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embeddedFontLst>
    <p:embeddedFont>
      <p:font typeface="Montserrat" panose="00000500000000000000" pitchFamily="2" charset="0"/>
      <p:regular r:id="rId29"/>
      <p:bold r:id="rId30"/>
      <p:italic r:id="rId31"/>
      <p:boldItalic r:id="rId32"/>
    </p:embeddedFont>
    <p:embeddedFont>
      <p:font typeface="Outfit" pitchFamily="2"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XYgkLIuChiSOgNxlBHbLDd/kq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51DAC8-A292-441D-BE4C-CEAAA4680A9C}">
  <a:tblStyle styleId="{FF51DAC8-A292-441D-BE4C-CEAAA4680A9C}"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Z:\Zoho%20CRM\Accounts\christian%20coulson%20-%20ctmc@live.co.uk\Associated%20Deals\IA%20-%20Textured%20Keycap%20Tool\Textured%20Teacup%20Tool%20-%20Product%20Potential%20Report%20Tool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43BAAC"/>
            </a:solidFill>
            <a:ln>
              <a:noFill/>
            </a:ln>
            <a:effectLst/>
          </c:spPr>
          <c:invertIfNegative val="0"/>
          <c:cat>
            <c:strRef>
              <c:f>'Example Traction Roadmap'!$B$7:$B$9</c:f>
              <c:strCache>
                <c:ptCount val="3"/>
                <c:pt idx="0">
                  <c:v> Year 1 </c:v>
                </c:pt>
                <c:pt idx="1">
                  <c:v> Year 2 </c:v>
                </c:pt>
                <c:pt idx="2">
                  <c:v> Year 3 </c:v>
                </c:pt>
              </c:strCache>
            </c:strRef>
          </c:cat>
          <c:val>
            <c:numRef>
              <c:f>'Example Traction Roadmap'!$C$7:$C$9</c:f>
              <c:numCache>
                <c:formatCode>#,##0</c:formatCode>
                <c:ptCount val="3"/>
                <c:pt idx="0">
                  <c:v>1112.3470522803113</c:v>
                </c:pt>
                <c:pt idx="1">
                  <c:v>11123.470522803114</c:v>
                </c:pt>
                <c:pt idx="2">
                  <c:v>111234.70522803115</c:v>
                </c:pt>
              </c:numCache>
            </c:numRef>
          </c:val>
          <c:extLst>
            <c:ext xmlns:c16="http://schemas.microsoft.com/office/drawing/2014/chart" uri="{C3380CC4-5D6E-409C-BE32-E72D297353CC}">
              <c16:uniqueId val="{00000000-C9CF-43FE-BB07-199DFCA95E43}"/>
            </c:ext>
          </c:extLst>
        </c:ser>
        <c:dLbls>
          <c:showLegendKey val="0"/>
          <c:showVal val="0"/>
          <c:showCatName val="0"/>
          <c:showSerName val="0"/>
          <c:showPercent val="0"/>
          <c:showBubbleSize val="0"/>
        </c:dLbls>
        <c:gapWidth val="199"/>
        <c:axId val="512377423"/>
        <c:axId val="512384495"/>
      </c:barChart>
      <c:catAx>
        <c:axId val="5123774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n-US"/>
          </a:p>
        </c:txPr>
        <c:crossAx val="512384495"/>
        <c:crosses val="autoZero"/>
        <c:auto val="1"/>
        <c:lblAlgn val="ctr"/>
        <c:lblOffset val="100"/>
        <c:noMultiLvlLbl val="0"/>
      </c:catAx>
      <c:valAx>
        <c:axId val="512384495"/>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23774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70B1B3"/>
              </a:solidFill>
              <a:ln>
                <a:noFill/>
              </a:ln>
              <a:effectLst/>
            </c:spPr>
            <c:extLst>
              <c:ext xmlns:c16="http://schemas.microsoft.com/office/drawing/2014/chart" uri="{C3380CC4-5D6E-409C-BE32-E72D297353CC}">
                <c16:uniqueId val="{00000001-E9CE-4F4A-B809-E26C6966A4ED}"/>
              </c:ext>
            </c:extLst>
          </c:dPt>
          <c:dPt>
            <c:idx val="1"/>
            <c:invertIfNegative val="0"/>
            <c:bubble3D val="0"/>
            <c:spPr>
              <a:solidFill>
                <a:srgbClr val="66C3D1"/>
              </a:solidFill>
              <a:ln>
                <a:noFill/>
              </a:ln>
              <a:effectLst/>
            </c:spPr>
            <c:extLst>
              <c:ext xmlns:c16="http://schemas.microsoft.com/office/drawing/2014/chart" uri="{C3380CC4-5D6E-409C-BE32-E72D297353CC}">
                <c16:uniqueId val="{00000003-E9CE-4F4A-B809-E26C6966A4ED}"/>
              </c:ext>
            </c:extLst>
          </c:dPt>
          <c:dPt>
            <c:idx val="2"/>
            <c:invertIfNegative val="0"/>
            <c:bubble3D val="0"/>
            <c:spPr>
              <a:solidFill>
                <a:srgbClr val="5CD4EF"/>
              </a:solidFill>
              <a:ln>
                <a:noFill/>
              </a:ln>
              <a:effectLst/>
            </c:spPr>
            <c:extLst>
              <c:ext xmlns:c16="http://schemas.microsoft.com/office/drawing/2014/chart" uri="{C3380CC4-5D6E-409C-BE32-E72D297353CC}">
                <c16:uniqueId val="{00000005-E9CE-4F4A-B809-E26C6966A4ED}"/>
              </c:ext>
            </c:extLst>
          </c:dPt>
          <c:cat>
            <c:strRef>
              <c:f>'Example Profit Targets'!$B$5:$B$7</c:f>
              <c:strCache>
                <c:ptCount val="3"/>
                <c:pt idx="0">
                  <c:v> Year 1 </c:v>
                </c:pt>
                <c:pt idx="1">
                  <c:v> Year 2 </c:v>
                </c:pt>
                <c:pt idx="2">
                  <c:v> Year 3 </c:v>
                </c:pt>
              </c:strCache>
            </c:strRef>
          </c:cat>
          <c:val>
            <c:numRef>
              <c:f>'Example Profit Targets'!$G$5:$G$7</c:f>
              <c:numCache>
                <c:formatCode>_-"£"* #,##0_-;\-"£"* #,##0_-;_-"£"* "-"??_-;_-@_-</c:formatCode>
                <c:ptCount val="3"/>
                <c:pt idx="0">
                  <c:v>999.99999999999989</c:v>
                </c:pt>
                <c:pt idx="1">
                  <c:v>10000</c:v>
                </c:pt>
                <c:pt idx="2">
                  <c:v>100000</c:v>
                </c:pt>
              </c:numCache>
            </c:numRef>
          </c:val>
          <c:extLst>
            <c:ext xmlns:c16="http://schemas.microsoft.com/office/drawing/2014/chart" uri="{C3380CC4-5D6E-409C-BE32-E72D297353CC}">
              <c16:uniqueId val="{00000006-E9CE-4F4A-B809-E26C6966A4ED}"/>
            </c:ext>
          </c:extLst>
        </c:ser>
        <c:dLbls>
          <c:showLegendKey val="0"/>
          <c:showVal val="0"/>
          <c:showCatName val="0"/>
          <c:showSerName val="0"/>
          <c:showPercent val="0"/>
          <c:showBubbleSize val="0"/>
        </c:dLbls>
        <c:gapWidth val="199"/>
        <c:axId val="512377423"/>
        <c:axId val="512384495"/>
      </c:barChart>
      <c:catAx>
        <c:axId val="5123774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n-US"/>
          </a:p>
        </c:txPr>
        <c:crossAx val="512384495"/>
        <c:crosses val="autoZero"/>
        <c:auto val="1"/>
        <c:lblAlgn val="ctr"/>
        <c:lblOffset val="100"/>
        <c:noMultiLvlLbl val="0"/>
      </c:catAx>
      <c:valAx>
        <c:axId val="512384495"/>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_-&quot;£&quot;* #,##0_-;\-&quot;£&quot;* #,##0_-;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23774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Outfit"/>
                <a:ea typeface="Outfit"/>
                <a:cs typeface="Outfit"/>
                <a:sym typeface="Outfit"/>
              </a:rPr>
              <a:t>‹#›</a:t>
            </a:fld>
            <a:endParaRPr sz="1200" b="0" i="0" u="none" strike="noStrike" cap="none">
              <a:solidFill>
                <a:schemeClr val="dk1"/>
              </a:solidFill>
              <a:latin typeface="Outfit"/>
              <a:ea typeface="Outfit"/>
              <a:cs typeface="Outfit"/>
              <a:sym typeface="Outfit"/>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86762f2b9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386762f2b9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86762f2b93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g386762f2b93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2" name="Google Shape;3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Outfit"/>
              <a:buNone/>
            </a:pPr>
            <a:fld id="{00000000-1234-1234-1234-123412341234}" type="slidenum">
              <a:rPr lang="en-GB" sz="1200" b="0" i="0" u="none" strike="noStrike" cap="none">
                <a:solidFill>
                  <a:srgbClr val="000000"/>
                </a:solidFill>
                <a:latin typeface="Outfit"/>
                <a:ea typeface="Outfit"/>
                <a:cs typeface="Outfit"/>
                <a:sym typeface="Outfit"/>
              </a:rPr>
              <a:t>23</a:t>
            </a:fld>
            <a:endParaRPr sz="1200" b="0" i="0" u="none" strike="noStrike" cap="none">
              <a:solidFill>
                <a:srgbClr val="000000"/>
              </a:solidFill>
              <a:latin typeface="Outfit"/>
              <a:ea typeface="Outfit"/>
              <a:cs typeface="Outfit"/>
              <a:sym typeface="Outfi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Outfit"/>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Outfit"/>
              <a:buNone/>
              <a:defRPr sz="6000">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Outfit"/>
                <a:ea typeface="Outfit"/>
                <a:cs typeface="Outfit"/>
                <a:sym typeface="Outfit"/>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Outfit"/>
              <a:buNone/>
              <a:defRPr sz="6000">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Outfit"/>
                <a:ea typeface="Outfit"/>
                <a:cs typeface="Outfit"/>
                <a:sym typeface="Outfit"/>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Outfit"/>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Outfit"/>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Outfit"/>
                <a:ea typeface="Outfit"/>
                <a:cs typeface="Outfit"/>
                <a:sym typeface="Outfit"/>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Outfit"/>
                <a:ea typeface="Outfit"/>
                <a:cs typeface="Outfit"/>
                <a:sym typeface="Outfit"/>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Outfit"/>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Outfit"/>
              <a:buNone/>
              <a:defRPr sz="3200">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Outfit"/>
                <a:ea typeface="Outfit"/>
                <a:cs typeface="Outfit"/>
                <a:sym typeface="Outfit"/>
              </a:defRPr>
            </a:lvl1pPr>
            <a:lvl2pPr marL="914400" lvl="1" indent="-406400" algn="l">
              <a:lnSpc>
                <a:spcPct val="90000"/>
              </a:lnSpc>
              <a:spcBef>
                <a:spcPts val="500"/>
              </a:spcBef>
              <a:spcAft>
                <a:spcPts val="0"/>
              </a:spcAft>
              <a:buClr>
                <a:schemeClr val="dk1"/>
              </a:buClr>
              <a:buSzPts val="2800"/>
              <a:buChar char="•"/>
              <a:defRPr sz="2800">
                <a:latin typeface="Outfit"/>
                <a:ea typeface="Outfit"/>
                <a:cs typeface="Outfit"/>
                <a:sym typeface="Outfit"/>
              </a:defRPr>
            </a:lvl2pPr>
            <a:lvl3pPr marL="1371600" lvl="2" indent="-381000" algn="l">
              <a:lnSpc>
                <a:spcPct val="90000"/>
              </a:lnSpc>
              <a:spcBef>
                <a:spcPts val="500"/>
              </a:spcBef>
              <a:spcAft>
                <a:spcPts val="0"/>
              </a:spcAft>
              <a:buClr>
                <a:schemeClr val="dk1"/>
              </a:buClr>
              <a:buSzPts val="2400"/>
              <a:buChar char="•"/>
              <a:defRPr sz="2400">
                <a:latin typeface="Outfit"/>
                <a:ea typeface="Outfit"/>
                <a:cs typeface="Outfit"/>
                <a:sym typeface="Outfit"/>
              </a:defRPr>
            </a:lvl3pPr>
            <a:lvl4pPr marL="1828800" lvl="3" indent="-355600" algn="l">
              <a:lnSpc>
                <a:spcPct val="90000"/>
              </a:lnSpc>
              <a:spcBef>
                <a:spcPts val="500"/>
              </a:spcBef>
              <a:spcAft>
                <a:spcPts val="0"/>
              </a:spcAft>
              <a:buClr>
                <a:schemeClr val="dk1"/>
              </a:buClr>
              <a:buSzPts val="2000"/>
              <a:buChar char="•"/>
              <a:defRPr sz="2000">
                <a:latin typeface="Outfit"/>
                <a:ea typeface="Outfit"/>
                <a:cs typeface="Outfit"/>
                <a:sym typeface="Outfit"/>
              </a:defRPr>
            </a:lvl4pPr>
            <a:lvl5pPr marL="2286000" lvl="4" indent="-355600" algn="l">
              <a:lnSpc>
                <a:spcPct val="90000"/>
              </a:lnSpc>
              <a:spcBef>
                <a:spcPts val="500"/>
              </a:spcBef>
              <a:spcAft>
                <a:spcPts val="0"/>
              </a:spcAft>
              <a:buClr>
                <a:schemeClr val="dk1"/>
              </a:buClr>
              <a:buSzPts val="2000"/>
              <a:buChar char="•"/>
              <a:defRPr sz="2000">
                <a:latin typeface="Outfit"/>
                <a:ea typeface="Outfit"/>
                <a:cs typeface="Outfit"/>
                <a:sym typeface="Outfit"/>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Outfit"/>
                <a:ea typeface="Outfit"/>
                <a:cs typeface="Outfit"/>
                <a:sym typeface="Outfit"/>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Outfit"/>
              <a:buNone/>
              <a:defRPr sz="3200">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6"/>
          <p:cNvSpPr>
            <a:spLocks noGrp="1"/>
          </p:cNvSpPr>
          <p:nvPr>
            <p:ph type="pic" idx="2"/>
          </p:nvPr>
        </p:nvSpPr>
        <p:spPr>
          <a:xfrm>
            <a:off x="5183188" y="987425"/>
            <a:ext cx="6172200" cy="4873625"/>
          </a:xfrm>
          <a:prstGeom prst="rect">
            <a:avLst/>
          </a:prstGeom>
          <a:noFill/>
          <a:ln>
            <a:noFill/>
          </a:ln>
        </p:spPr>
      </p:sp>
      <p:sp>
        <p:nvSpPr>
          <p:cNvPr id="68" name="Google Shape;68;p3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Outfit"/>
                <a:ea typeface="Outfit"/>
                <a:cs typeface="Outfit"/>
                <a:sym typeface="Outfit"/>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Outfit"/>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Outfit"/>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Outfit"/>
                <a:ea typeface="Outfit"/>
                <a:cs typeface="Outfit"/>
                <a:sym typeface="Outfit"/>
              </a:defRPr>
            </a:lvl1pPr>
            <a:lvl2pPr marL="914400" lvl="1" indent="-381000" algn="l">
              <a:lnSpc>
                <a:spcPct val="90000"/>
              </a:lnSpc>
              <a:spcBef>
                <a:spcPts val="500"/>
              </a:spcBef>
              <a:spcAft>
                <a:spcPts val="0"/>
              </a:spcAft>
              <a:buClr>
                <a:schemeClr val="dk1"/>
              </a:buClr>
              <a:buSzPts val="2400"/>
              <a:buChar char="•"/>
              <a:defRPr>
                <a:latin typeface="Outfit"/>
                <a:ea typeface="Outfit"/>
                <a:cs typeface="Outfit"/>
                <a:sym typeface="Outfit"/>
              </a:defRPr>
            </a:lvl2pPr>
            <a:lvl3pPr marL="1371600" lvl="2" indent="-355600" algn="l">
              <a:lnSpc>
                <a:spcPct val="90000"/>
              </a:lnSpc>
              <a:spcBef>
                <a:spcPts val="500"/>
              </a:spcBef>
              <a:spcAft>
                <a:spcPts val="0"/>
              </a:spcAft>
              <a:buClr>
                <a:schemeClr val="dk1"/>
              </a:buClr>
              <a:buSzPts val="2000"/>
              <a:buChar char="•"/>
              <a:defRPr>
                <a:latin typeface="Outfit"/>
                <a:ea typeface="Outfit"/>
                <a:cs typeface="Outfit"/>
                <a:sym typeface="Outfit"/>
              </a:defRPr>
            </a:lvl3pPr>
            <a:lvl4pPr marL="1828800" lvl="3" indent="-342900" algn="l">
              <a:lnSpc>
                <a:spcPct val="90000"/>
              </a:lnSpc>
              <a:spcBef>
                <a:spcPts val="500"/>
              </a:spcBef>
              <a:spcAft>
                <a:spcPts val="0"/>
              </a:spcAft>
              <a:buClr>
                <a:schemeClr val="dk1"/>
              </a:buClr>
              <a:buSzPts val="1800"/>
              <a:buChar char="•"/>
              <a:defRPr>
                <a:latin typeface="Outfit"/>
                <a:ea typeface="Outfit"/>
                <a:cs typeface="Outfit"/>
                <a:sym typeface="Outfit"/>
              </a:defRPr>
            </a:lvl4pPr>
            <a:lvl5pPr marL="2286000" lvl="4" indent="-342900" algn="l">
              <a:lnSpc>
                <a:spcPct val="90000"/>
              </a:lnSpc>
              <a:spcBef>
                <a:spcPts val="500"/>
              </a:spcBef>
              <a:spcAft>
                <a:spcPts val="0"/>
              </a:spcAft>
              <a:buClr>
                <a:schemeClr val="dk1"/>
              </a:buClr>
              <a:buSzPts val="1800"/>
              <a:buChar char="•"/>
              <a:defRPr>
                <a:latin typeface="Outfit"/>
                <a:ea typeface="Outfit"/>
                <a:cs typeface="Outfit"/>
                <a:sym typeface="Outfi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Outfit"/>
                <a:ea typeface="Outfit"/>
                <a:cs typeface="Outfit"/>
                <a:sym typeface="Outfi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Outfit"/>
              <a:buNone/>
              <a:defRPr sz="44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utfit"/>
                <a:ea typeface="Outfit"/>
                <a:cs typeface="Outfit"/>
                <a:sym typeface="Outfi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utfit"/>
                <a:ea typeface="Outfit"/>
                <a:cs typeface="Outfit"/>
                <a:sym typeface="Outfi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utfit"/>
                <a:ea typeface="Outfit"/>
                <a:cs typeface="Outfit"/>
                <a:sym typeface="Outfi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87"/>
        <p:cNvGrpSpPr/>
        <p:nvPr/>
      </p:nvGrpSpPr>
      <p:grpSpPr>
        <a:xfrm>
          <a:off x="0" y="0"/>
          <a:ext cx="0" cy="0"/>
          <a:chOff x="0" y="0"/>
          <a:chExt cx="0" cy="0"/>
        </a:xfrm>
      </p:grpSpPr>
      <p:grpSp>
        <p:nvGrpSpPr>
          <p:cNvPr id="88" name="Google Shape;88;p1"/>
          <p:cNvGrpSpPr/>
          <p:nvPr/>
        </p:nvGrpSpPr>
        <p:grpSpPr>
          <a:xfrm>
            <a:off x="2267513" y="2330903"/>
            <a:ext cx="7091089" cy="1703250"/>
            <a:chOff x="2948649" y="2283104"/>
            <a:chExt cx="7091089" cy="1703250"/>
          </a:xfrm>
        </p:grpSpPr>
        <p:sp>
          <p:nvSpPr>
            <p:cNvPr id="89" name="Google Shape;89;p1"/>
            <p:cNvSpPr txBox="1"/>
            <p:nvPr/>
          </p:nvSpPr>
          <p:spPr>
            <a:xfrm>
              <a:off x="2948649" y="2283104"/>
              <a:ext cx="7091089"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GB" sz="4000" b="1">
                  <a:solidFill>
                    <a:srgbClr val="182933"/>
                  </a:solidFill>
                  <a:latin typeface="Montserrat"/>
                  <a:ea typeface="Montserrat"/>
                  <a:cs typeface="Montserrat"/>
                  <a:sym typeface="Montserrat"/>
                </a:rPr>
                <a:t>{{p</a:t>
              </a:r>
              <a:r>
                <a:rPr lang="en-GB" sz="4000" b="1" i="0" u="none" strike="noStrike" cap="none">
                  <a:solidFill>
                    <a:srgbClr val="182933"/>
                  </a:solidFill>
                  <a:latin typeface="Montserrat"/>
                  <a:ea typeface="Montserrat"/>
                  <a:cs typeface="Montserrat"/>
                  <a:sym typeface="Montserrat"/>
                </a:rPr>
                <a:t>roject</a:t>
              </a:r>
              <a:r>
                <a:rPr lang="en-GB" sz="4000" b="1">
                  <a:solidFill>
                    <a:srgbClr val="182933"/>
                  </a:solidFill>
                  <a:latin typeface="Montserrat"/>
                  <a:ea typeface="Montserrat"/>
                  <a:cs typeface="Montserrat"/>
                  <a:sym typeface="Montserrat"/>
                </a:rPr>
                <a:t>_</a:t>
              </a:r>
              <a:r>
                <a:rPr lang="en-GB" sz="4000" b="1" i="0" u="none" strike="noStrike" cap="none">
                  <a:solidFill>
                    <a:srgbClr val="182933"/>
                  </a:solidFill>
                  <a:latin typeface="Montserrat"/>
                  <a:ea typeface="Montserrat"/>
                  <a:cs typeface="Montserrat"/>
                  <a:sym typeface="Montserrat"/>
                </a:rPr>
                <a:t>name</a:t>
              </a:r>
              <a:r>
                <a:rPr lang="en-GB" sz="4000" b="1">
                  <a:solidFill>
                    <a:srgbClr val="182933"/>
                  </a:solidFill>
                  <a:latin typeface="Montserrat"/>
                  <a:ea typeface="Montserrat"/>
                  <a:cs typeface="Montserrat"/>
                  <a:sym typeface="Montserrat"/>
                </a:rPr>
                <a:t>}}</a:t>
              </a:r>
              <a:endParaRPr sz="1400" b="0" i="0" u="none" strike="noStrike" cap="none">
                <a:solidFill>
                  <a:srgbClr val="000000"/>
                </a:solidFill>
                <a:latin typeface="Arial"/>
                <a:ea typeface="Arial"/>
                <a:cs typeface="Arial"/>
                <a:sym typeface="Arial"/>
              </a:endParaRPr>
            </a:p>
          </p:txBody>
        </p:sp>
        <p:sp>
          <p:nvSpPr>
            <p:cNvPr id="90" name="Google Shape;90;p1"/>
            <p:cNvSpPr txBox="1"/>
            <p:nvPr/>
          </p:nvSpPr>
          <p:spPr>
            <a:xfrm>
              <a:off x="3015324" y="3103618"/>
              <a:ext cx="3266512" cy="349702"/>
            </a:xfrm>
            <a:prstGeom prst="rect">
              <a:avLst/>
            </a:prstGeom>
            <a:solidFill>
              <a:srgbClr val="DC8777"/>
            </a:solidFill>
            <a:ln>
              <a:noFill/>
            </a:ln>
          </p:spPr>
          <p:txBody>
            <a:bodyPr spcFirstLastPara="1" wrap="square" lIns="91425" tIns="72000" rIns="91425" bIns="45700" anchor="ctr"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PRODUCT POTENTIAL REPORT</a:t>
              </a:r>
              <a:endParaRPr sz="1500" b="1" i="0" u="none" strike="noStrike" cap="none">
                <a:solidFill>
                  <a:schemeClr val="lt1"/>
                </a:solidFill>
                <a:latin typeface="Outfit"/>
                <a:ea typeface="Outfit"/>
                <a:cs typeface="Outfit"/>
                <a:sym typeface="Outfit"/>
              </a:endParaRPr>
            </a:p>
          </p:txBody>
        </p:sp>
        <p:sp>
          <p:nvSpPr>
            <p:cNvPr id="91" name="Google Shape;91;p1"/>
            <p:cNvSpPr txBox="1"/>
            <p:nvPr/>
          </p:nvSpPr>
          <p:spPr>
            <a:xfrm>
              <a:off x="2948649" y="3678577"/>
              <a:ext cx="672604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0" u="none" strike="noStrike" cap="none">
                  <a:solidFill>
                    <a:srgbClr val="182933"/>
                  </a:solidFill>
                  <a:latin typeface="Outfit"/>
                  <a:ea typeface="Outfit"/>
                  <a:cs typeface="Outfit"/>
                  <a:sym typeface="Outfit"/>
                </a:rPr>
                <a:t>Produced by Innovate Design for </a:t>
              </a:r>
              <a:r>
                <a:rPr lang="en-GB" b="1">
                  <a:solidFill>
                    <a:srgbClr val="182933"/>
                  </a:solidFill>
                  <a:latin typeface="Outfit"/>
                  <a:ea typeface="Outfit"/>
                  <a:cs typeface="Outfit"/>
                  <a:sym typeface="Outfit"/>
                </a:rPr>
                <a:t>{{</a:t>
              </a:r>
              <a:r>
                <a:rPr lang="en-GB" sz="1400" b="1" i="0" u="none" strike="noStrike" cap="none">
                  <a:solidFill>
                    <a:srgbClr val="182933"/>
                  </a:solidFill>
                  <a:latin typeface="Outfit"/>
                  <a:ea typeface="Outfit"/>
                  <a:cs typeface="Outfit"/>
                  <a:sym typeface="Outfit"/>
                </a:rPr>
                <a:t>client</a:t>
              </a:r>
              <a:r>
                <a:rPr lang="en-GB" b="1">
                  <a:solidFill>
                    <a:srgbClr val="182933"/>
                  </a:solidFill>
                  <a:latin typeface="Outfit"/>
                  <a:ea typeface="Outfit"/>
                  <a:cs typeface="Outfit"/>
                  <a:sym typeface="Outfit"/>
                </a:rPr>
                <a:t>_</a:t>
              </a:r>
              <a:r>
                <a:rPr lang="en-GB" sz="1400" b="1" i="0" u="none" strike="noStrike" cap="none">
                  <a:solidFill>
                    <a:srgbClr val="182933"/>
                  </a:solidFill>
                  <a:latin typeface="Outfit"/>
                  <a:ea typeface="Outfit"/>
                  <a:cs typeface="Outfit"/>
                  <a:sym typeface="Outfit"/>
                </a:rPr>
                <a:t>name</a:t>
              </a:r>
              <a:r>
                <a:rPr lang="en-GB" b="1">
                  <a:solidFill>
                    <a:srgbClr val="182933"/>
                  </a:solidFill>
                  <a:latin typeface="Outfit"/>
                  <a:ea typeface="Outfit"/>
                  <a:cs typeface="Outfit"/>
                  <a:sym typeface="Outfit"/>
                </a:rPr>
                <a:t>}}</a:t>
              </a:r>
              <a:r>
                <a:rPr lang="en-GB" sz="1400" b="1" i="0" u="none" strike="noStrike" cap="none">
                  <a:solidFill>
                    <a:srgbClr val="182933"/>
                  </a:solidFill>
                  <a:latin typeface="Outfit"/>
                  <a:ea typeface="Outfit"/>
                  <a:cs typeface="Outfit"/>
                  <a:sym typeface="Outfit"/>
                </a:rPr>
                <a:t>, founder </a:t>
              </a:r>
              <a:endParaRPr sz="1400" b="1" i="0" u="none" strike="noStrike" cap="none">
                <a:solidFill>
                  <a:srgbClr val="182933"/>
                </a:solidFill>
                <a:latin typeface="Outfit"/>
                <a:ea typeface="Outfit"/>
                <a:cs typeface="Outfit"/>
                <a:sym typeface="Outfit"/>
              </a:endParaRPr>
            </a:p>
          </p:txBody>
        </p:sp>
      </p:grpSp>
      <p:sp>
        <p:nvSpPr>
          <p:cNvPr id="92" name="Google Shape;92;p1"/>
          <p:cNvSpPr txBox="1">
            <a:spLocks noGrp="1"/>
          </p:cNvSpPr>
          <p:nvPr>
            <p:ph type="dt" idx="10"/>
          </p:nvPr>
        </p:nvSpPr>
        <p:spPr>
          <a:xfrm>
            <a:off x="10346765" y="6356350"/>
            <a:ext cx="184523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19/12/2025 XX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96"/>
        <p:cNvGrpSpPr/>
        <p:nvPr/>
      </p:nvGrpSpPr>
      <p:grpSpPr>
        <a:xfrm>
          <a:off x="0" y="0"/>
          <a:ext cx="0" cy="0"/>
          <a:chOff x="0" y="0"/>
          <a:chExt cx="0" cy="0"/>
        </a:xfrm>
      </p:grpSpPr>
      <p:sp>
        <p:nvSpPr>
          <p:cNvPr id="97" name="Google Shape;97;p2"/>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8" name="Google Shape;98;p2"/>
          <p:cNvSpPr txBox="1"/>
          <p:nvPr/>
        </p:nvSpPr>
        <p:spPr>
          <a:xfrm>
            <a:off x="719999" y="558417"/>
            <a:ext cx="4791116" cy="323165"/>
          </a:xfrm>
          <a:prstGeom prst="rect">
            <a:avLst/>
          </a:prstGeom>
          <a:solidFill>
            <a:srgbClr val="18293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Product summary based on your idea submission</a:t>
            </a:r>
            <a:endParaRPr sz="1400" b="0" i="0" u="none" strike="noStrike" cap="none">
              <a:solidFill>
                <a:srgbClr val="000000"/>
              </a:solidFill>
              <a:latin typeface="Arial"/>
              <a:ea typeface="Arial"/>
              <a:cs typeface="Arial"/>
              <a:sym typeface="Arial"/>
            </a:endParaRPr>
          </a:p>
        </p:txBody>
      </p:sp>
      <p:sp>
        <p:nvSpPr>
          <p:cNvPr id="99" name="Google Shape;9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a:t>
            </a:fld>
            <a:endParaRPr/>
          </a:p>
        </p:txBody>
      </p:sp>
      <p:sp>
        <p:nvSpPr>
          <p:cNvPr id="100" name="Google Shape;100;p2"/>
          <p:cNvSpPr txBox="1"/>
          <p:nvPr/>
        </p:nvSpPr>
        <p:spPr>
          <a:xfrm>
            <a:off x="10214497" y="-6794"/>
            <a:ext cx="1910447" cy="1466382"/>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 summary explaining the basis of the product has been identified.</a:t>
            </a: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987305" y="2357920"/>
            <a:ext cx="8601300" cy="12627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GB" sz="2400" b="1">
                <a:solidFill>
                  <a:srgbClr val="182933"/>
                </a:solidFill>
                <a:latin typeface="Outfit"/>
                <a:ea typeface="Outfit"/>
                <a:cs typeface="Outfit"/>
                <a:sym typeface="Outfit"/>
              </a:rPr>
              <a:t>{{product_summary}}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2400"/>
              <a:buFont typeface="Arial"/>
              <a:buNone/>
            </a:pPr>
            <a:endParaRPr sz="2400" b="1" i="0" u="none" strike="noStrike" cap="none">
              <a:solidFill>
                <a:srgbClr val="182933"/>
              </a:solidFill>
              <a:latin typeface="Outfit"/>
              <a:ea typeface="Outfit"/>
              <a:cs typeface="Outfit"/>
              <a:sym typeface="Outfi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2933"/>
        </a:solidFill>
        <a:effectLst/>
      </p:bgPr>
    </p:bg>
    <p:spTree>
      <p:nvGrpSpPr>
        <p:cNvPr id="1" name="Shape 105"/>
        <p:cNvGrpSpPr/>
        <p:nvPr/>
      </p:nvGrpSpPr>
      <p:grpSpPr>
        <a:xfrm>
          <a:off x="0" y="0"/>
          <a:ext cx="0" cy="0"/>
          <a:chOff x="0" y="0"/>
          <a:chExt cx="0" cy="0"/>
        </a:xfrm>
      </p:grpSpPr>
      <p:grpSp>
        <p:nvGrpSpPr>
          <p:cNvPr id="106" name="Google Shape;106;p3"/>
          <p:cNvGrpSpPr/>
          <p:nvPr/>
        </p:nvGrpSpPr>
        <p:grpSpPr>
          <a:xfrm rot="3600000" flipH="1">
            <a:off x="1652541" y="-907513"/>
            <a:ext cx="8903644" cy="8918274"/>
            <a:chOff x="1065988" y="1674164"/>
            <a:chExt cx="4107819" cy="4114571"/>
          </a:xfrm>
        </p:grpSpPr>
        <p:sp>
          <p:nvSpPr>
            <p:cNvPr id="107" name="Google Shape;107;p3"/>
            <p:cNvSpPr/>
            <p:nvPr/>
          </p:nvSpPr>
          <p:spPr>
            <a:xfrm>
              <a:off x="1065988" y="2155620"/>
              <a:ext cx="2582562" cy="2582562"/>
            </a:xfrm>
            <a:prstGeom prst="ellipse">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0"/>
                <a:buFont typeface="Arial"/>
                <a:buNone/>
              </a:pPr>
              <a:endParaRPr sz="100" b="0" i="0" u="none" strike="noStrike" cap="none">
                <a:solidFill>
                  <a:schemeClr val="lt1"/>
                </a:solidFill>
                <a:latin typeface="Arial"/>
                <a:ea typeface="Arial"/>
                <a:cs typeface="Arial"/>
                <a:sym typeface="Arial"/>
              </a:endParaRPr>
            </a:p>
          </p:txBody>
        </p:sp>
        <p:sp>
          <p:nvSpPr>
            <p:cNvPr id="108" name="Google Shape;108;p3"/>
            <p:cNvSpPr/>
            <p:nvPr/>
          </p:nvSpPr>
          <p:spPr>
            <a:xfrm>
              <a:off x="2591245" y="1674164"/>
              <a:ext cx="2582562" cy="2582562"/>
            </a:xfrm>
            <a:prstGeom prst="ellipse">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0"/>
                <a:buFont typeface="Arial"/>
                <a:buNone/>
              </a:pPr>
              <a:endParaRPr sz="100" b="0" i="0" u="none" strike="noStrike" cap="none">
                <a:solidFill>
                  <a:schemeClr val="lt1"/>
                </a:solidFill>
                <a:latin typeface="Arial"/>
                <a:ea typeface="Arial"/>
                <a:cs typeface="Arial"/>
                <a:sym typeface="Arial"/>
              </a:endParaRPr>
            </a:p>
          </p:txBody>
        </p:sp>
        <p:sp>
          <p:nvSpPr>
            <p:cNvPr id="109" name="Google Shape;109;p3"/>
            <p:cNvSpPr/>
            <p:nvPr/>
          </p:nvSpPr>
          <p:spPr>
            <a:xfrm>
              <a:off x="2137255" y="3206173"/>
              <a:ext cx="2582562" cy="2582562"/>
            </a:xfrm>
            <a:prstGeom prst="ellipse">
              <a:avLst/>
            </a:prstGeom>
            <a:solidFill>
              <a:schemeClr val="dk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0"/>
                <a:buFont typeface="Arial"/>
                <a:buNone/>
              </a:pPr>
              <a:endParaRPr sz="100" b="0" i="0" u="none" strike="noStrike" cap="none">
                <a:solidFill>
                  <a:schemeClr val="lt1"/>
                </a:solidFill>
                <a:latin typeface="Arial"/>
                <a:ea typeface="Arial"/>
                <a:cs typeface="Arial"/>
                <a:sym typeface="Arial"/>
              </a:endParaRPr>
            </a:p>
          </p:txBody>
        </p:sp>
      </p:grpSp>
      <p:sp>
        <p:nvSpPr>
          <p:cNvPr id="110" name="Google Shape;1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a:t>
            </a:fld>
            <a:endParaRPr/>
          </a:p>
        </p:txBody>
      </p:sp>
      <p:grpSp>
        <p:nvGrpSpPr>
          <p:cNvPr id="111" name="Google Shape;111;p3"/>
          <p:cNvGrpSpPr/>
          <p:nvPr/>
        </p:nvGrpSpPr>
        <p:grpSpPr>
          <a:xfrm>
            <a:off x="1445741" y="2576556"/>
            <a:ext cx="9300518" cy="1497736"/>
            <a:chOff x="1445741" y="2842763"/>
            <a:chExt cx="9300518" cy="1497736"/>
          </a:xfrm>
        </p:grpSpPr>
        <p:sp>
          <p:nvSpPr>
            <p:cNvPr id="112" name="Google Shape;112;p3"/>
            <p:cNvSpPr txBox="1"/>
            <p:nvPr/>
          </p:nvSpPr>
          <p:spPr>
            <a:xfrm>
              <a:off x="1445741" y="2842763"/>
              <a:ext cx="9300518"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GB" sz="5000" b="1" i="0" u="none" strike="noStrike" cap="none">
                  <a:solidFill>
                    <a:schemeClr val="lt1"/>
                  </a:solidFill>
                  <a:latin typeface="Outfit"/>
                  <a:ea typeface="Outfit"/>
                  <a:cs typeface="Outfit"/>
                  <a:sym typeface="Outfit"/>
                </a:rPr>
                <a:t>Product Potential Report</a:t>
              </a:r>
              <a:endParaRPr sz="5000" b="1" i="0" u="none" strike="noStrike" cap="none">
                <a:solidFill>
                  <a:schemeClr val="lt1"/>
                </a:solidFill>
                <a:latin typeface="Outfit"/>
                <a:ea typeface="Outfit"/>
                <a:cs typeface="Outfit"/>
                <a:sym typeface="Outfit"/>
              </a:endParaRPr>
            </a:p>
          </p:txBody>
        </p:sp>
        <p:sp>
          <p:nvSpPr>
            <p:cNvPr id="113" name="Google Shape;113;p3"/>
            <p:cNvSpPr txBox="1"/>
            <p:nvPr/>
          </p:nvSpPr>
          <p:spPr>
            <a:xfrm>
              <a:off x="3707745" y="4032722"/>
              <a:ext cx="477651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chemeClr val="lt1"/>
                  </a:solidFill>
                  <a:latin typeface="Outfit"/>
                  <a:ea typeface="Outfit"/>
                  <a:cs typeface="Outfit"/>
                  <a:sym typeface="Outfit"/>
                </a:rPr>
                <a:t>Understand the commercial potential of your idea</a:t>
              </a:r>
              <a:endParaRPr sz="1400" b="1" i="0" u="none" strike="noStrike" cap="none">
                <a:solidFill>
                  <a:schemeClr val="lt1"/>
                </a:solidFill>
                <a:latin typeface="Outfit"/>
                <a:ea typeface="Outfit"/>
                <a:cs typeface="Outfit"/>
                <a:sym typeface="Outfi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17"/>
        <p:cNvGrpSpPr/>
        <p:nvPr/>
      </p:nvGrpSpPr>
      <p:grpSpPr>
        <a:xfrm>
          <a:off x="0" y="0"/>
          <a:ext cx="0" cy="0"/>
          <a:chOff x="0" y="0"/>
          <a:chExt cx="0" cy="0"/>
        </a:xfrm>
      </p:grpSpPr>
      <p:sp>
        <p:nvSpPr>
          <p:cNvPr id="118" name="Google Shape;118;p4"/>
          <p:cNvSpPr txBox="1"/>
          <p:nvPr/>
        </p:nvSpPr>
        <p:spPr>
          <a:xfrm>
            <a:off x="719998" y="558416"/>
            <a:ext cx="4584733" cy="323165"/>
          </a:xfrm>
          <a:prstGeom prst="rect">
            <a:avLst/>
          </a:prstGeom>
          <a:solidFill>
            <a:srgbClr val="18293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Montserrat"/>
                <a:ea typeface="Montserrat"/>
                <a:cs typeface="Montserrat"/>
                <a:sym typeface="Montserrat"/>
              </a:rPr>
              <a:t> PRODUCT POTENTIAL REPORT EXPLAINED</a:t>
            </a:r>
            <a:endParaRPr sz="1500" b="1" i="0" u="none" strike="noStrike" cap="none">
              <a:solidFill>
                <a:schemeClr val="lt1"/>
              </a:solidFill>
              <a:latin typeface="Montserrat"/>
              <a:ea typeface="Montserrat"/>
              <a:cs typeface="Montserrat"/>
              <a:sym typeface="Montserrat"/>
            </a:endParaRPr>
          </a:p>
        </p:txBody>
      </p:sp>
      <p:sp>
        <p:nvSpPr>
          <p:cNvPr id="119" name="Google Shape;119;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a:t>
            </a:fld>
            <a:endParaRPr/>
          </a:p>
        </p:txBody>
      </p:sp>
      <p:grpSp>
        <p:nvGrpSpPr>
          <p:cNvPr id="120" name="Google Shape;120;p4"/>
          <p:cNvGrpSpPr/>
          <p:nvPr/>
        </p:nvGrpSpPr>
        <p:grpSpPr>
          <a:xfrm rot="3600000" flipH="1">
            <a:off x="546162" y="2060187"/>
            <a:ext cx="4107819" cy="4114571"/>
            <a:chOff x="1065988" y="1674164"/>
            <a:chExt cx="4107819" cy="4114571"/>
          </a:xfrm>
        </p:grpSpPr>
        <p:sp>
          <p:nvSpPr>
            <p:cNvPr id="121" name="Google Shape;121;p4"/>
            <p:cNvSpPr/>
            <p:nvPr/>
          </p:nvSpPr>
          <p:spPr>
            <a:xfrm>
              <a:off x="1065988" y="2155620"/>
              <a:ext cx="2582562" cy="2582562"/>
            </a:xfrm>
            <a:prstGeom prst="ellipse">
              <a:avLst/>
            </a:prstGeom>
            <a:solidFill>
              <a:srgbClr val="43B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 name="Google Shape;122;p4"/>
            <p:cNvSpPr/>
            <p:nvPr/>
          </p:nvSpPr>
          <p:spPr>
            <a:xfrm>
              <a:off x="2591245" y="1674164"/>
              <a:ext cx="2582562" cy="2582562"/>
            </a:xfrm>
            <a:prstGeom prst="ellipse">
              <a:avLst/>
            </a:prstGeom>
            <a:solidFill>
              <a:srgbClr val="F7C4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 name="Google Shape;123;p4"/>
            <p:cNvSpPr/>
            <p:nvPr/>
          </p:nvSpPr>
          <p:spPr>
            <a:xfrm>
              <a:off x="2137255" y="3206173"/>
              <a:ext cx="2582562" cy="2582562"/>
            </a:xfrm>
            <a:prstGeom prst="ellipse">
              <a:avLst/>
            </a:prstGeom>
            <a:solidFill>
              <a:srgbClr val="EF656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124" name="Google Shape;124;p4"/>
            <p:cNvGrpSpPr/>
            <p:nvPr/>
          </p:nvGrpSpPr>
          <p:grpSpPr>
            <a:xfrm>
              <a:off x="1065988" y="1674164"/>
              <a:ext cx="4107819" cy="4114571"/>
              <a:chOff x="1065988" y="1699872"/>
              <a:chExt cx="4107819" cy="4114571"/>
            </a:xfrm>
          </p:grpSpPr>
          <p:sp>
            <p:nvSpPr>
              <p:cNvPr id="125" name="Google Shape;125;p4"/>
              <p:cNvSpPr/>
              <p:nvPr/>
            </p:nvSpPr>
            <p:spPr>
              <a:xfrm>
                <a:off x="1065988" y="2181328"/>
                <a:ext cx="2582562" cy="2582562"/>
              </a:xfrm>
              <a:prstGeom prst="ellipse">
                <a:avLst/>
              </a:prstGeom>
              <a:solidFill>
                <a:srgbClr val="43BAAC">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 name="Google Shape;126;p4"/>
              <p:cNvSpPr/>
              <p:nvPr/>
            </p:nvSpPr>
            <p:spPr>
              <a:xfrm>
                <a:off x="2591245" y="1699872"/>
                <a:ext cx="2582562" cy="2582562"/>
              </a:xfrm>
              <a:prstGeom prst="ellipse">
                <a:avLst/>
              </a:prstGeom>
              <a:solidFill>
                <a:srgbClr val="F7C47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7" name="Google Shape;127;p4"/>
              <p:cNvSpPr/>
              <p:nvPr/>
            </p:nvSpPr>
            <p:spPr>
              <a:xfrm>
                <a:off x="2137255" y="3231881"/>
                <a:ext cx="2582562" cy="2582562"/>
              </a:xfrm>
              <a:prstGeom prst="ellipse">
                <a:avLst/>
              </a:prstGeom>
              <a:solidFill>
                <a:srgbClr val="EF656D">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grpSp>
      <p:sp>
        <p:nvSpPr>
          <p:cNvPr id="128" name="Google Shape;128;p4"/>
          <p:cNvSpPr txBox="1"/>
          <p:nvPr/>
        </p:nvSpPr>
        <p:spPr>
          <a:xfrm>
            <a:off x="346564" y="4071603"/>
            <a:ext cx="1888975"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Montserrat"/>
                <a:ea typeface="Montserrat"/>
                <a:cs typeface="Montserrat"/>
                <a:sym typeface="Montserrat"/>
              </a:rPr>
              <a:t>DESIRABILITY</a:t>
            </a:r>
            <a:endParaRPr sz="1400" b="0" i="0" u="none" strike="noStrike" cap="none">
              <a:solidFill>
                <a:srgbClr val="000000"/>
              </a:solidFill>
              <a:latin typeface="Arial"/>
              <a:ea typeface="Arial"/>
              <a:cs typeface="Arial"/>
              <a:sym typeface="Arial"/>
            </a:endParaRPr>
          </a:p>
        </p:txBody>
      </p:sp>
      <p:sp>
        <p:nvSpPr>
          <p:cNvPr id="129" name="Google Shape;129;p4"/>
          <p:cNvSpPr txBox="1"/>
          <p:nvPr/>
        </p:nvSpPr>
        <p:spPr>
          <a:xfrm>
            <a:off x="1985435" y="2462620"/>
            <a:ext cx="1888975"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Montserrat"/>
                <a:ea typeface="Montserrat"/>
                <a:cs typeface="Montserrat"/>
                <a:sym typeface="Montserrat"/>
              </a:rPr>
              <a:t>VIABILITY</a:t>
            </a:r>
            <a:endParaRPr sz="1400" b="0" i="0" u="none" strike="noStrike" cap="none">
              <a:solidFill>
                <a:srgbClr val="000000"/>
              </a:solidFill>
              <a:latin typeface="Arial"/>
              <a:ea typeface="Arial"/>
              <a:cs typeface="Arial"/>
              <a:sym typeface="Arial"/>
            </a:endParaRPr>
          </a:p>
        </p:txBody>
      </p:sp>
      <p:sp>
        <p:nvSpPr>
          <p:cNvPr id="130" name="Google Shape;130;p4"/>
          <p:cNvSpPr txBox="1"/>
          <p:nvPr/>
        </p:nvSpPr>
        <p:spPr>
          <a:xfrm>
            <a:off x="2633032" y="4923884"/>
            <a:ext cx="1888975"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Montserrat"/>
                <a:ea typeface="Montserrat"/>
                <a:cs typeface="Montserrat"/>
                <a:sym typeface="Montserrat"/>
              </a:rPr>
              <a:t>FEASIBILITY</a:t>
            </a:r>
            <a:endParaRPr sz="1400" b="0" i="0" u="none" strike="noStrike" cap="none">
              <a:solidFill>
                <a:srgbClr val="000000"/>
              </a:solidFill>
              <a:latin typeface="Arial"/>
              <a:ea typeface="Arial"/>
              <a:cs typeface="Arial"/>
              <a:sym typeface="Arial"/>
            </a:endParaRPr>
          </a:p>
        </p:txBody>
      </p:sp>
      <p:sp>
        <p:nvSpPr>
          <p:cNvPr id="131" name="Google Shape;131;p4"/>
          <p:cNvSpPr txBox="1"/>
          <p:nvPr/>
        </p:nvSpPr>
        <p:spPr>
          <a:xfrm>
            <a:off x="4284625" y="3762442"/>
            <a:ext cx="1888975"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chemeClr val="dk1"/>
                </a:solidFill>
                <a:latin typeface="Montserrat"/>
                <a:ea typeface="Montserrat"/>
                <a:cs typeface="Montserrat"/>
                <a:sym typeface="Montserrat"/>
              </a:rPr>
              <a:t>INNOVATION</a:t>
            </a:r>
            <a:endParaRPr sz="1400" b="0" i="0" u="none" strike="noStrike" cap="none">
              <a:solidFill>
                <a:srgbClr val="000000"/>
              </a:solidFill>
              <a:latin typeface="Arial"/>
              <a:ea typeface="Arial"/>
              <a:cs typeface="Arial"/>
              <a:sym typeface="Arial"/>
            </a:endParaRPr>
          </a:p>
        </p:txBody>
      </p:sp>
      <p:cxnSp>
        <p:nvCxnSpPr>
          <p:cNvPr id="132" name="Google Shape;132;p4"/>
          <p:cNvCxnSpPr/>
          <p:nvPr/>
        </p:nvCxnSpPr>
        <p:spPr>
          <a:xfrm rot="10800000">
            <a:off x="2645754" y="3924024"/>
            <a:ext cx="1768453" cy="0"/>
          </a:xfrm>
          <a:prstGeom prst="straightConnector1">
            <a:avLst/>
          </a:prstGeom>
          <a:noFill/>
          <a:ln w="9525" cap="flat" cmpd="sng">
            <a:solidFill>
              <a:schemeClr val="dk1"/>
            </a:solidFill>
            <a:prstDash val="solid"/>
            <a:miter lim="800000"/>
            <a:headEnd type="none" w="sm" len="sm"/>
            <a:tailEnd type="oval" w="med" len="med"/>
          </a:ln>
        </p:spPr>
      </p:cxnSp>
      <p:sp>
        <p:nvSpPr>
          <p:cNvPr id="133" name="Google Shape;133;p4"/>
          <p:cNvSpPr txBox="1"/>
          <p:nvPr/>
        </p:nvSpPr>
        <p:spPr>
          <a:xfrm>
            <a:off x="6502399" y="1471132"/>
            <a:ext cx="5214639" cy="4582619"/>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br>
              <a:rPr lang="en-GB" sz="1000" b="0" i="0" u="none" strike="noStrike" cap="none">
                <a:solidFill>
                  <a:srgbClr val="182933"/>
                </a:solidFill>
                <a:latin typeface="Outfit"/>
                <a:ea typeface="Outfit"/>
                <a:cs typeface="Outfit"/>
                <a:sym typeface="Outfit"/>
              </a:rPr>
            </a:br>
            <a:r>
              <a:rPr lang="en-GB" sz="1000" b="0" i="0" u="none" strike="noStrike" cap="none">
                <a:solidFill>
                  <a:srgbClr val="182933"/>
                </a:solidFill>
                <a:latin typeface="Outfit"/>
                <a:ea typeface="Outfit"/>
                <a:cs typeface="Outfit"/>
                <a:sym typeface="Outfit"/>
              </a:rPr>
              <a:t>Thank you for choosing Innovate Design to create your Product Potential Report. We have suggested this report because you are developing a product innovation and this report has been created to help you take an early look at its future potential.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The report can give valuable insights to all types of products whether physical, digital, or a new kind of service. When we refer to “product”, we are talking about anything you can develop which creates value for customers that you can sell.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The report focuses on three pillars of Innovation – desirability, viability and feasibility. This “Innovation Trinity” as it is known was developed by product strategist Ideo, and we believe successful innovations need all three. The aim is to help you create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 </a:t>
            </a:r>
            <a:r>
              <a:rPr lang="en-GB" sz="1000" b="1" i="0" u="none" strike="noStrike" cap="none">
                <a:solidFill>
                  <a:srgbClr val="182933"/>
                </a:solidFill>
                <a:latin typeface="Outfit"/>
                <a:ea typeface="Outfit"/>
                <a:cs typeface="Outfit"/>
                <a:sym typeface="Outfit"/>
              </a:rPr>
              <a:t>desirable </a:t>
            </a:r>
            <a:r>
              <a:rPr lang="en-GB" sz="1000" b="0" i="0" u="none" strike="noStrike" cap="none">
                <a:solidFill>
                  <a:srgbClr val="182933"/>
                </a:solidFill>
                <a:latin typeface="Outfit"/>
                <a:ea typeface="Outfit"/>
                <a:cs typeface="Outfit"/>
                <a:sym typeface="Outfit"/>
              </a:rPr>
              <a:t>product, which could provide a </a:t>
            </a:r>
            <a:r>
              <a:rPr lang="en-GB" sz="1000" b="1" i="0" u="none" strike="noStrike" cap="none">
                <a:solidFill>
                  <a:srgbClr val="182933"/>
                </a:solidFill>
                <a:latin typeface="Outfit"/>
                <a:ea typeface="Outfit"/>
                <a:cs typeface="Outfit"/>
                <a:sym typeface="Outfit"/>
              </a:rPr>
              <a:t>viable</a:t>
            </a:r>
            <a:r>
              <a:rPr lang="en-GB" sz="1000" b="0" i="0" u="none" strike="noStrike" cap="none">
                <a:solidFill>
                  <a:srgbClr val="182933"/>
                </a:solidFill>
                <a:latin typeface="Outfit"/>
                <a:ea typeface="Outfit"/>
                <a:cs typeface="Outfit"/>
                <a:sym typeface="Outfit"/>
              </a:rPr>
              <a:t> business that it is </a:t>
            </a:r>
            <a:r>
              <a:rPr lang="en-GB" sz="1000" b="1" i="0" u="none" strike="noStrike" cap="none">
                <a:solidFill>
                  <a:srgbClr val="182933"/>
                </a:solidFill>
                <a:latin typeface="Outfit"/>
                <a:ea typeface="Outfit"/>
                <a:cs typeface="Outfit"/>
                <a:sym typeface="Outfit"/>
              </a:rPr>
              <a:t>feasible</a:t>
            </a:r>
            <a:r>
              <a:rPr lang="en-GB" sz="1000" b="0" i="0" u="none" strike="noStrike" cap="none">
                <a:solidFill>
                  <a:srgbClr val="182933"/>
                </a:solidFill>
                <a:latin typeface="Outfit"/>
                <a:ea typeface="Outfit"/>
                <a:cs typeface="Outfit"/>
                <a:sym typeface="Outfit"/>
              </a:rPr>
              <a:t> to develop and produce. The Product Potential Report gives you tools to uncover potential challenges in your plan and easily adjust it in response. The report lays the foundations for these factors to be explored and verified in higher resolution during further development.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If you are happy with the results of the report, we hope that this is the first step on a path that allows us to help you to transform your idea into a product and a business. </a:t>
            </a:r>
            <a:endParaRPr sz="1400" b="0" i="0" u="none" strike="noStrike" cap="none">
              <a:solidFill>
                <a:srgbClr val="000000"/>
              </a:solidFill>
              <a:latin typeface="Arial"/>
              <a:ea typeface="Arial"/>
              <a:cs typeface="Arial"/>
              <a:sym typeface="Arial"/>
            </a:endParaRPr>
          </a:p>
        </p:txBody>
      </p:sp>
      <p:sp>
        <p:nvSpPr>
          <p:cNvPr id="134" name="Google Shape;134;p4"/>
          <p:cNvSpPr txBox="1"/>
          <p:nvPr/>
        </p:nvSpPr>
        <p:spPr>
          <a:xfrm>
            <a:off x="6736375" y="1802593"/>
            <a:ext cx="1246089" cy="246221"/>
          </a:xfrm>
          <a:prstGeom prst="rect">
            <a:avLst/>
          </a:prstGeom>
          <a:solidFill>
            <a:srgbClr val="DC8777"/>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INTRODUCTION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38"/>
        <p:cNvGrpSpPr/>
        <p:nvPr/>
      </p:nvGrpSpPr>
      <p:grpSpPr>
        <a:xfrm>
          <a:off x="0" y="0"/>
          <a:ext cx="0" cy="0"/>
          <a:chOff x="0" y="0"/>
          <a:chExt cx="0" cy="0"/>
        </a:xfrm>
      </p:grpSpPr>
      <p:sp>
        <p:nvSpPr>
          <p:cNvPr id="139" name="Google Shape;139;p5"/>
          <p:cNvSpPr/>
          <p:nvPr/>
        </p:nvSpPr>
        <p:spPr>
          <a:xfrm>
            <a:off x="7977096" y="3760704"/>
            <a:ext cx="3404999" cy="21245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40" name="Google Shape;140;p5"/>
          <p:cNvSpPr/>
          <p:nvPr/>
        </p:nvSpPr>
        <p:spPr>
          <a:xfrm>
            <a:off x="714396" y="3760704"/>
            <a:ext cx="3404999" cy="21245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41" name="Google Shape;141;p5"/>
          <p:cNvSpPr/>
          <p:nvPr/>
        </p:nvSpPr>
        <p:spPr>
          <a:xfrm>
            <a:off x="4393500" y="3772965"/>
            <a:ext cx="3404999" cy="21245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42" name="Google Shape;14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a:t>
            </a:fld>
            <a:endParaRPr/>
          </a:p>
        </p:txBody>
      </p:sp>
      <p:sp>
        <p:nvSpPr>
          <p:cNvPr id="143" name="Google Shape;143;p5"/>
          <p:cNvSpPr txBox="1"/>
          <p:nvPr/>
        </p:nvSpPr>
        <p:spPr>
          <a:xfrm>
            <a:off x="719999" y="558416"/>
            <a:ext cx="3897116" cy="323165"/>
          </a:xfrm>
          <a:prstGeom prst="rect">
            <a:avLst/>
          </a:prstGeom>
          <a:solidFill>
            <a:srgbClr val="18293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Montserrat"/>
                <a:ea typeface="Montserrat"/>
                <a:cs typeface="Montserrat"/>
                <a:sym typeface="Montserrat"/>
              </a:rPr>
              <a:t> INNOVATION TRINITY STRESS TESTS</a:t>
            </a:r>
            <a:endParaRPr sz="1500" b="1" i="0" u="none" strike="noStrike" cap="none">
              <a:solidFill>
                <a:schemeClr val="lt1"/>
              </a:solidFill>
              <a:latin typeface="Montserrat"/>
              <a:ea typeface="Montserrat"/>
              <a:cs typeface="Montserrat"/>
              <a:sym typeface="Montserrat"/>
            </a:endParaRPr>
          </a:p>
        </p:txBody>
      </p:sp>
      <p:sp>
        <p:nvSpPr>
          <p:cNvPr id="144" name="Google Shape;144;p5"/>
          <p:cNvSpPr txBox="1"/>
          <p:nvPr/>
        </p:nvSpPr>
        <p:spPr>
          <a:xfrm>
            <a:off x="719998" y="1158178"/>
            <a:ext cx="3399397" cy="4608267"/>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2060"/>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endParaRPr sz="1000" b="1" i="0" u="none" strike="noStrike" cap="none">
              <a:solidFill>
                <a:srgbClr val="002060"/>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Customer Segments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Customers are the heart of any product. So, it’s natural that identifying your potential customers is the starting point for the report.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Early Adopters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If customers are the heart, then early adopters are those first heartbeats that bring a project to life. We take a look at who they might be.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Existing Alternatives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In this analysis, we research at least three competitor products to better understand the existing market.  </a:t>
            </a:r>
            <a:endParaRPr sz="1000" b="0" i="0" u="none" strike="noStrike" cap="none">
              <a:solidFill>
                <a:srgbClr val="182933"/>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What is the Problem?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We list the main problems that we feel your potential customers may be unable to address with existing solutions.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Unique Value Proposition (UVP)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A summary of the solutions your product offers which are not currently available.</a:t>
            </a:r>
            <a:endParaRPr sz="1400" b="0" i="0" u="none" strike="noStrike" cap="none">
              <a:solidFill>
                <a:srgbClr val="000000"/>
              </a:solidFill>
              <a:latin typeface="Arial"/>
              <a:ea typeface="Arial"/>
              <a:cs typeface="Arial"/>
              <a:sym typeface="Arial"/>
            </a:endParaRPr>
          </a:p>
        </p:txBody>
      </p:sp>
      <p:sp>
        <p:nvSpPr>
          <p:cNvPr id="145" name="Google Shape;145;p5"/>
          <p:cNvSpPr txBox="1"/>
          <p:nvPr/>
        </p:nvSpPr>
        <p:spPr>
          <a:xfrm>
            <a:off x="4393500" y="1158178"/>
            <a:ext cx="3404999" cy="3582346"/>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2060"/>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endParaRPr sz="1000" b="0" i="0" u="none" strike="noStrike" cap="none">
              <a:solidFill>
                <a:srgbClr val="002060"/>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Minimum Success Criteria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Your Minimum Success Criteria (MSC) is the revenue you hope to achieve in year three of your business.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Market Size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Relevant market information has been researched to learn more about the Total Addressable Market (TAM) and assess the viability of reaching the number of customers needed either locally or globally to achieve your MSC.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Product Cost Structure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In this analysis, we help you review the targets your product might need to hit for cost of goods, customer acquisition and other elements.  </a:t>
            </a:r>
            <a:endParaRPr sz="1000" b="1" i="0" u="none" strike="noStrike" cap="none">
              <a:solidFill>
                <a:srgbClr val="182933"/>
              </a:solidFill>
              <a:latin typeface="Montserrat"/>
              <a:ea typeface="Montserrat"/>
              <a:cs typeface="Montserrat"/>
              <a:sym typeface="Montserrat"/>
            </a:endParaRPr>
          </a:p>
        </p:txBody>
      </p:sp>
      <p:sp>
        <p:nvSpPr>
          <p:cNvPr id="146" name="Google Shape;146;p5"/>
          <p:cNvSpPr txBox="1"/>
          <p:nvPr/>
        </p:nvSpPr>
        <p:spPr>
          <a:xfrm>
            <a:off x="942725" y="1333997"/>
            <a:ext cx="970010" cy="246219"/>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Montserrat"/>
                <a:ea typeface="Montserrat"/>
                <a:cs typeface="Montserrat"/>
                <a:sym typeface="Montserrat"/>
              </a:rPr>
              <a:t>DESIRABLE</a:t>
            </a:r>
            <a:endParaRPr sz="1000" b="1" i="0" u="none" strike="noStrike" cap="none">
              <a:solidFill>
                <a:schemeClr val="lt1"/>
              </a:solidFill>
              <a:latin typeface="Montserrat"/>
              <a:ea typeface="Montserrat"/>
              <a:cs typeface="Montserrat"/>
              <a:sym typeface="Montserrat"/>
            </a:endParaRPr>
          </a:p>
        </p:txBody>
      </p:sp>
      <p:sp>
        <p:nvSpPr>
          <p:cNvPr id="147" name="Google Shape;147;p5"/>
          <p:cNvSpPr txBox="1"/>
          <p:nvPr/>
        </p:nvSpPr>
        <p:spPr>
          <a:xfrm>
            <a:off x="4617115" y="1333995"/>
            <a:ext cx="780225" cy="246221"/>
          </a:xfrm>
          <a:prstGeom prst="rect">
            <a:avLst/>
          </a:prstGeom>
          <a:solidFill>
            <a:srgbClr val="F7C47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Montserrat"/>
                <a:ea typeface="Montserrat"/>
                <a:cs typeface="Montserrat"/>
                <a:sym typeface="Montserrat"/>
              </a:rPr>
              <a:t> VIABLE</a:t>
            </a:r>
            <a:endParaRPr sz="1400" b="0" i="0" u="none" strike="noStrike" cap="none">
              <a:solidFill>
                <a:srgbClr val="000000"/>
              </a:solidFill>
              <a:latin typeface="Arial"/>
              <a:ea typeface="Arial"/>
              <a:cs typeface="Arial"/>
              <a:sym typeface="Arial"/>
            </a:endParaRPr>
          </a:p>
        </p:txBody>
      </p:sp>
      <p:sp>
        <p:nvSpPr>
          <p:cNvPr id="148" name="Google Shape;148;p5"/>
          <p:cNvSpPr txBox="1"/>
          <p:nvPr/>
        </p:nvSpPr>
        <p:spPr>
          <a:xfrm>
            <a:off x="7977096" y="1158178"/>
            <a:ext cx="3404999" cy="3864474"/>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2060"/>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endParaRPr sz="1000" b="1" i="0" u="none" strike="noStrike" cap="none">
              <a:solidFill>
                <a:srgbClr val="002060"/>
              </a:solidFill>
              <a:latin typeface="Montserrat"/>
              <a:ea typeface="Montserrat"/>
              <a:cs typeface="Montserrat"/>
              <a:sym typeface="Montserrat"/>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The Proposed Solution In 7 Words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We consider whether the proposed solution can be clearly described in 7 words or fewer.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Feasibility Summary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We talk you through how you can assess whether it is feasible to produce your innovation.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1" i="0" u="none" strike="noStrike" cap="none">
                <a:solidFill>
                  <a:srgbClr val="182933"/>
                </a:solidFill>
                <a:latin typeface="Montserrat"/>
                <a:ea typeface="Montserrat"/>
                <a:cs typeface="Montserrat"/>
                <a:sym typeface="Montserrat"/>
              </a:rPr>
              <a:t>Traction Roadmap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Starting from the launch of your product, this allows us to consider how you can gauge whether it has traction in the market.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 </a:t>
            </a:r>
            <a:r>
              <a:rPr lang="en-GB" sz="1000" b="1" i="0" u="none" strike="noStrike" cap="none">
                <a:solidFill>
                  <a:srgbClr val="182933"/>
                </a:solidFill>
                <a:latin typeface="Montserrat"/>
                <a:ea typeface="Montserrat"/>
                <a:cs typeface="Montserrat"/>
                <a:sym typeface="Montserrat"/>
              </a:rPr>
              <a:t>Development Roadmap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rgbClr val="000000"/>
              </a:buClr>
              <a:buSzPts val="1000"/>
              <a:buFont typeface="Arial"/>
              <a:buNone/>
            </a:pPr>
            <a:r>
              <a:rPr lang="en-GB" sz="1000" b="0" i="0" u="none" strike="noStrike" cap="none">
                <a:solidFill>
                  <a:srgbClr val="182933"/>
                </a:solidFill>
                <a:latin typeface="Montserrat"/>
                <a:ea typeface="Montserrat"/>
                <a:cs typeface="Montserrat"/>
                <a:sym typeface="Montserrat"/>
              </a:rPr>
              <a:t>This roadmap is designed to provide you with a feasible development process to prepare your Innovation for launch.  </a:t>
            </a:r>
            <a:endParaRPr sz="1400" b="0" i="0" u="none" strike="noStrike" cap="none">
              <a:solidFill>
                <a:srgbClr val="000000"/>
              </a:solidFill>
              <a:latin typeface="Arial"/>
              <a:ea typeface="Arial"/>
              <a:cs typeface="Arial"/>
              <a:sym typeface="Arial"/>
            </a:endParaRPr>
          </a:p>
        </p:txBody>
      </p:sp>
      <p:sp>
        <p:nvSpPr>
          <p:cNvPr id="149" name="Google Shape;149;p5"/>
          <p:cNvSpPr txBox="1"/>
          <p:nvPr/>
        </p:nvSpPr>
        <p:spPr>
          <a:xfrm>
            <a:off x="8178616" y="1357707"/>
            <a:ext cx="898772"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Montserrat"/>
                <a:ea typeface="Montserrat"/>
                <a:cs typeface="Montserrat"/>
                <a:sym typeface="Montserrat"/>
              </a:rPr>
              <a:t> FEASIBLE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53"/>
        <p:cNvGrpSpPr/>
        <p:nvPr/>
      </p:nvGrpSpPr>
      <p:grpSpPr>
        <a:xfrm>
          <a:off x="0" y="0"/>
          <a:ext cx="0" cy="0"/>
          <a:chOff x="0" y="0"/>
          <a:chExt cx="0" cy="0"/>
        </a:xfrm>
      </p:grpSpPr>
      <p:sp>
        <p:nvSpPr>
          <p:cNvPr id="154" name="Google Shape;154;p6"/>
          <p:cNvSpPr/>
          <p:nvPr/>
        </p:nvSpPr>
        <p:spPr>
          <a:xfrm>
            <a:off x="0" y="3445"/>
            <a:ext cx="12192000" cy="6854555"/>
          </a:xfrm>
          <a:prstGeom prst="rect">
            <a:avLst/>
          </a:prstGeom>
          <a:solidFill>
            <a:srgbClr val="EF656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155" name="Google Shape;155;p6"/>
          <p:cNvPicPr preferRelativeResize="0"/>
          <p:nvPr/>
        </p:nvPicPr>
        <p:blipFill rotWithShape="1">
          <a:blip r:embed="rId3">
            <a:alphaModFix/>
          </a:blip>
          <a:srcRect/>
          <a:stretch/>
        </p:blipFill>
        <p:spPr>
          <a:xfrm>
            <a:off x="2631331" y="612648"/>
            <a:ext cx="6809850" cy="6053196"/>
          </a:xfrm>
          <a:prstGeom prst="rect">
            <a:avLst/>
          </a:prstGeom>
          <a:noFill/>
          <a:ln>
            <a:noFill/>
          </a:ln>
        </p:spPr>
      </p:pic>
      <p:sp>
        <p:nvSpPr>
          <p:cNvPr id="156" name="Google Shape;15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a:t>
            </a:fld>
            <a:endParaRPr/>
          </a:p>
        </p:txBody>
      </p:sp>
      <p:grpSp>
        <p:nvGrpSpPr>
          <p:cNvPr id="157" name="Google Shape;157;p6"/>
          <p:cNvGrpSpPr/>
          <p:nvPr/>
        </p:nvGrpSpPr>
        <p:grpSpPr>
          <a:xfrm>
            <a:off x="3197628" y="2576556"/>
            <a:ext cx="5796744" cy="1713179"/>
            <a:chOff x="3197628" y="2842763"/>
            <a:chExt cx="5796744" cy="1713179"/>
          </a:xfrm>
        </p:grpSpPr>
        <p:sp>
          <p:nvSpPr>
            <p:cNvPr id="158" name="Google Shape;158;p6"/>
            <p:cNvSpPr txBox="1"/>
            <p:nvPr/>
          </p:nvSpPr>
          <p:spPr>
            <a:xfrm>
              <a:off x="3197628" y="2842763"/>
              <a:ext cx="5796744"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GB" sz="5000" b="1" i="0" u="none" strike="noStrike" cap="none">
                  <a:solidFill>
                    <a:schemeClr val="lt1"/>
                  </a:solidFill>
                  <a:latin typeface="Outfit"/>
                  <a:ea typeface="Outfit"/>
                  <a:cs typeface="Outfit"/>
                  <a:sym typeface="Outfit"/>
                </a:rPr>
                <a:t>Desirability</a:t>
              </a:r>
              <a:endParaRPr sz="5000" b="1" i="0" u="none" strike="noStrike" cap="none">
                <a:solidFill>
                  <a:schemeClr val="lt1"/>
                </a:solidFill>
                <a:latin typeface="Outfit"/>
                <a:ea typeface="Outfit"/>
                <a:cs typeface="Outfit"/>
                <a:sym typeface="Outfit"/>
              </a:endParaRPr>
            </a:p>
          </p:txBody>
        </p:sp>
        <p:sp>
          <p:nvSpPr>
            <p:cNvPr id="159" name="Google Shape;159;p6"/>
            <p:cNvSpPr txBox="1"/>
            <p:nvPr/>
          </p:nvSpPr>
          <p:spPr>
            <a:xfrm>
              <a:off x="3707745" y="4032722"/>
              <a:ext cx="47765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chemeClr val="lt1"/>
                  </a:solidFill>
                  <a:latin typeface="Outfit"/>
                  <a:ea typeface="Outfit"/>
                  <a:cs typeface="Outfit"/>
                  <a:sym typeface="Outfit"/>
                </a:rPr>
                <a:t>Does the product create a strong enough desire to be bought by a group of customers?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63"/>
        <p:cNvGrpSpPr/>
        <p:nvPr/>
      </p:nvGrpSpPr>
      <p:grpSpPr>
        <a:xfrm>
          <a:off x="0" y="0"/>
          <a:ext cx="0" cy="0"/>
          <a:chOff x="0" y="0"/>
          <a:chExt cx="0" cy="0"/>
        </a:xfrm>
      </p:grpSpPr>
      <p:sp>
        <p:nvSpPr>
          <p:cNvPr id="164" name="Google Shape;164;p7"/>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65" name="Google Shape;165;p7"/>
          <p:cNvSpPr txBox="1"/>
          <p:nvPr/>
        </p:nvSpPr>
        <p:spPr>
          <a:xfrm>
            <a:off x="720000" y="558417"/>
            <a:ext cx="2072627" cy="323165"/>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Customer segment</a:t>
            </a:r>
            <a:endParaRPr sz="1400" b="0" i="0" u="none" strike="noStrike" cap="none">
              <a:solidFill>
                <a:srgbClr val="000000"/>
              </a:solidFill>
              <a:latin typeface="Arial"/>
              <a:ea typeface="Arial"/>
              <a:cs typeface="Arial"/>
              <a:sym typeface="Arial"/>
            </a:endParaRPr>
          </a:p>
        </p:txBody>
      </p:sp>
      <p:sp>
        <p:nvSpPr>
          <p:cNvPr id="166" name="Google Shape;16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a:t>
            </a:fld>
            <a:endParaRPr/>
          </a:p>
        </p:txBody>
      </p:sp>
      <p:sp>
        <p:nvSpPr>
          <p:cNvPr id="167" name="Google Shape;167;p7"/>
          <p:cNvSpPr txBox="1"/>
          <p:nvPr/>
        </p:nvSpPr>
        <p:spPr>
          <a:xfrm>
            <a:off x="10214497" y="-6794"/>
            <a:ext cx="1910447" cy="1158605"/>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Add notes</a:t>
            </a:r>
            <a:endParaRPr sz="1000" b="0" i="0" u="none" strike="noStrike" cap="none">
              <a:solidFill>
                <a:srgbClr val="182933"/>
              </a:solidFill>
              <a:latin typeface="Outfit"/>
              <a:ea typeface="Outfit"/>
              <a:cs typeface="Outfit"/>
              <a:sym typeface="Outfit"/>
            </a:endParaRPr>
          </a:p>
        </p:txBody>
      </p:sp>
      <p:sp>
        <p:nvSpPr>
          <p:cNvPr id="168" name="Google Shape;168;p7"/>
          <p:cNvSpPr txBox="1"/>
          <p:nvPr/>
        </p:nvSpPr>
        <p:spPr>
          <a:xfrm>
            <a:off x="3846576" y="2335049"/>
            <a:ext cx="1618426"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chemeClr val="dk1"/>
                </a:solidFill>
                <a:latin typeface="Outfit"/>
                <a:ea typeface="Outfit"/>
                <a:cs typeface="Outfit"/>
                <a:sym typeface="Outfit"/>
              </a:rPr>
              <a:t>CUSTOMERS</a:t>
            </a:r>
            <a:endParaRPr sz="1400" b="0" i="0" u="none" strike="noStrike" cap="none">
              <a:solidFill>
                <a:srgbClr val="000000"/>
              </a:solidFill>
              <a:latin typeface="Arial"/>
              <a:ea typeface="Arial"/>
              <a:cs typeface="Arial"/>
              <a:sym typeface="Arial"/>
            </a:endParaRPr>
          </a:p>
        </p:txBody>
      </p:sp>
      <p:cxnSp>
        <p:nvCxnSpPr>
          <p:cNvPr id="169" name="Google Shape;169;p7"/>
          <p:cNvCxnSpPr>
            <a:stCxn id="168" idx="1"/>
          </p:cNvCxnSpPr>
          <p:nvPr/>
        </p:nvCxnSpPr>
        <p:spPr>
          <a:xfrm rot="10800000">
            <a:off x="3266976" y="2496632"/>
            <a:ext cx="579600" cy="0"/>
          </a:xfrm>
          <a:prstGeom prst="straightConnector1">
            <a:avLst/>
          </a:prstGeom>
          <a:noFill/>
          <a:ln w="9525" cap="flat" cmpd="sng">
            <a:solidFill>
              <a:schemeClr val="dk1"/>
            </a:solidFill>
            <a:prstDash val="solid"/>
            <a:miter lim="800000"/>
            <a:headEnd type="none" w="sm" len="sm"/>
            <a:tailEnd type="oval" w="med" len="med"/>
          </a:ln>
        </p:spPr>
      </p:cxnSp>
      <p:sp>
        <p:nvSpPr>
          <p:cNvPr id="170" name="Google Shape;170;p7"/>
          <p:cNvSpPr/>
          <p:nvPr/>
        </p:nvSpPr>
        <p:spPr>
          <a:xfrm>
            <a:off x="1077030" y="5438108"/>
            <a:ext cx="6689149" cy="1097413"/>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Customer segments explained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Here we list the general customer groups who might buy the product. These are usually large groups e.g. coffee drinkers. This is also known as your Total Addressable Market (TAM).</a:t>
            </a:r>
            <a:endParaRPr sz="1400" b="0" i="0" u="none" strike="noStrike" cap="none">
              <a:solidFill>
                <a:srgbClr val="000000"/>
              </a:solidFill>
              <a:latin typeface="Arial"/>
              <a:ea typeface="Arial"/>
              <a:cs typeface="Arial"/>
              <a:sym typeface="Arial"/>
            </a:endParaRPr>
          </a:p>
        </p:txBody>
      </p:sp>
      <p:sp>
        <p:nvSpPr>
          <p:cNvPr id="171" name="Google Shape;171;p7"/>
          <p:cNvSpPr txBox="1"/>
          <p:nvPr/>
        </p:nvSpPr>
        <p:spPr>
          <a:xfrm>
            <a:off x="5758945" y="1442211"/>
            <a:ext cx="3893400" cy="14346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CUSTOMER SEGMENT</a:t>
            </a:r>
            <a:endParaRPr sz="1400" b="0" i="0" u="none" strike="noStrike" cap="none">
              <a:solidFill>
                <a:srgbClr val="000000"/>
              </a:solidFill>
              <a:latin typeface="Arial"/>
              <a:ea typeface="Arial"/>
              <a:cs typeface="Arial"/>
              <a:sym typeface="Arial"/>
            </a:endParaRPr>
          </a:p>
          <a:p>
            <a:pPr marL="288000" marR="0" lvl="0" indent="-18000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{{customer_1}}</a:t>
            </a:r>
            <a:endParaRPr sz="1400" b="0" i="0" u="none" strike="noStrike" cap="none">
              <a:solidFill>
                <a:srgbClr val="000000"/>
              </a:solidFill>
              <a:latin typeface="Arial"/>
              <a:ea typeface="Arial"/>
              <a:cs typeface="Arial"/>
              <a:sym typeface="Arial"/>
            </a:endParaRPr>
          </a:p>
          <a:p>
            <a:pPr marL="288000" marR="0" lvl="0" indent="-180000" algn="l" rtl="0">
              <a:lnSpc>
                <a:spcPct val="100000"/>
              </a:lnSpc>
              <a:spcBef>
                <a:spcPts val="7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{{customer_2}}</a:t>
            </a:r>
            <a:endParaRPr sz="1400" b="0" i="0" u="none" strike="noStrike" cap="none">
              <a:solidFill>
                <a:srgbClr val="000000"/>
              </a:solidFill>
              <a:latin typeface="Arial"/>
              <a:ea typeface="Arial"/>
              <a:cs typeface="Arial"/>
              <a:sym typeface="Arial"/>
            </a:endParaRPr>
          </a:p>
          <a:p>
            <a:pPr marL="288000" marR="0" lvl="0" indent="-180000" algn="l" rtl="0">
              <a:lnSpc>
                <a:spcPct val="100000"/>
              </a:lnSpc>
              <a:spcBef>
                <a:spcPts val="7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{{c</a:t>
            </a:r>
            <a:r>
              <a:rPr lang="en-GB" sz="1250" b="1" i="0" u="none" strike="noStrike" cap="none">
                <a:solidFill>
                  <a:srgbClr val="182933"/>
                </a:solidFill>
                <a:latin typeface="Outfit"/>
                <a:ea typeface="Outfit"/>
                <a:cs typeface="Outfit"/>
                <a:sym typeface="Outfit"/>
              </a:rPr>
              <a:t>ustomer</a:t>
            </a:r>
            <a:r>
              <a:rPr lang="en-GB" sz="1250" b="1">
                <a:solidFill>
                  <a:srgbClr val="182933"/>
                </a:solidFill>
                <a:latin typeface="Outfit"/>
                <a:ea typeface="Outfit"/>
                <a:cs typeface="Outfit"/>
                <a:sym typeface="Outfit"/>
              </a:rPr>
              <a:t>_</a:t>
            </a:r>
            <a:r>
              <a:rPr lang="en-GB" sz="1250" b="1" i="0" u="none" strike="noStrike" cap="none">
                <a:solidFill>
                  <a:srgbClr val="182933"/>
                </a:solidFill>
                <a:latin typeface="Outfit"/>
                <a:ea typeface="Outfit"/>
                <a:cs typeface="Outfit"/>
                <a:sym typeface="Outfit"/>
              </a:rPr>
              <a:t>3}}</a:t>
            </a:r>
            <a:endParaRPr sz="1400" b="0" i="0" u="none" strike="noStrike" cap="none">
              <a:solidFill>
                <a:srgbClr val="000000"/>
              </a:solidFill>
              <a:latin typeface="Arial"/>
              <a:ea typeface="Arial"/>
              <a:cs typeface="Arial"/>
              <a:sym typeface="Arial"/>
            </a:endParaRPr>
          </a:p>
        </p:txBody>
      </p:sp>
      <p:pic>
        <p:nvPicPr>
          <p:cNvPr id="172" name="Google Shape;172;p7"/>
          <p:cNvPicPr preferRelativeResize="0"/>
          <p:nvPr/>
        </p:nvPicPr>
        <p:blipFill rotWithShape="1">
          <a:blip r:embed="rId3">
            <a:alphaModFix/>
          </a:blip>
          <a:srcRect/>
          <a:stretch/>
        </p:blipFill>
        <p:spPr>
          <a:xfrm>
            <a:off x="734623" y="1812290"/>
            <a:ext cx="2541082" cy="2258738"/>
          </a:xfrm>
          <a:prstGeom prst="rect">
            <a:avLst/>
          </a:prstGeom>
          <a:noFill/>
          <a:ln>
            <a:noFill/>
          </a:ln>
        </p:spPr>
      </p:pic>
      <p:pic>
        <p:nvPicPr>
          <p:cNvPr id="173" name="Google Shape;173;p7"/>
          <p:cNvPicPr preferRelativeResize="0"/>
          <p:nvPr/>
        </p:nvPicPr>
        <p:blipFill rotWithShape="1">
          <a:blip r:embed="rId4">
            <a:alphaModFix/>
          </a:blip>
          <a:srcRect/>
          <a:stretch/>
        </p:blipFill>
        <p:spPr>
          <a:xfrm>
            <a:off x="1427473" y="2454343"/>
            <a:ext cx="1155382" cy="1027006"/>
          </a:xfrm>
          <a:prstGeom prst="rect">
            <a:avLst/>
          </a:prstGeom>
          <a:noFill/>
          <a:ln>
            <a:noFill/>
          </a:ln>
        </p:spPr>
      </p:pic>
      <p:pic>
        <p:nvPicPr>
          <p:cNvPr id="174" name="Google Shape;174;p7"/>
          <p:cNvPicPr preferRelativeResize="0"/>
          <p:nvPr/>
        </p:nvPicPr>
        <p:blipFill rotWithShape="1">
          <a:blip r:embed="rId5">
            <a:alphaModFix/>
          </a:blip>
          <a:srcRect/>
          <a:stretch/>
        </p:blipFill>
        <p:spPr>
          <a:xfrm>
            <a:off x="1205692" y="5622954"/>
            <a:ext cx="187332" cy="273083"/>
          </a:xfrm>
          <a:prstGeom prst="rect">
            <a:avLst/>
          </a:prstGeom>
          <a:noFill/>
          <a:ln>
            <a:noFill/>
          </a:ln>
        </p:spPr>
      </p:pic>
      <p:sp>
        <p:nvSpPr>
          <p:cNvPr id="175" name="Google Shape;175;p7"/>
          <p:cNvSpPr txBox="1"/>
          <p:nvPr/>
        </p:nvSpPr>
        <p:spPr>
          <a:xfrm>
            <a:off x="3526984" y="2651973"/>
            <a:ext cx="2257609"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BFBFBF"/>
                </a:solidFill>
                <a:latin typeface="Outfit"/>
                <a:ea typeface="Outfit"/>
                <a:cs typeface="Outfit"/>
                <a:sym typeface="Outfit"/>
              </a:rPr>
              <a:t>EARLY ADOPTERS</a:t>
            </a:r>
            <a:endParaRPr sz="1400" b="0" i="0" u="none" strike="noStrike" cap="none">
              <a:solidFill>
                <a:srgbClr val="000000"/>
              </a:solidFill>
              <a:latin typeface="Arial"/>
              <a:ea typeface="Arial"/>
              <a:cs typeface="Arial"/>
              <a:sym typeface="Arial"/>
            </a:endParaRPr>
          </a:p>
        </p:txBody>
      </p:sp>
      <p:cxnSp>
        <p:nvCxnSpPr>
          <p:cNvPr id="176" name="Google Shape;176;p7"/>
          <p:cNvCxnSpPr>
            <a:stCxn id="175" idx="1"/>
          </p:cNvCxnSpPr>
          <p:nvPr/>
        </p:nvCxnSpPr>
        <p:spPr>
          <a:xfrm rot="10800000">
            <a:off x="2582884" y="2813556"/>
            <a:ext cx="944100" cy="0"/>
          </a:xfrm>
          <a:prstGeom prst="straightConnector1">
            <a:avLst/>
          </a:prstGeom>
          <a:noFill/>
          <a:ln w="9525" cap="flat" cmpd="sng">
            <a:solidFill>
              <a:srgbClr val="BFBFBF"/>
            </a:solidFill>
            <a:prstDash val="solid"/>
            <a:miter lim="800000"/>
            <a:headEnd type="none" w="sm" len="sm"/>
            <a:tailEnd type="oval"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80"/>
        <p:cNvGrpSpPr/>
        <p:nvPr/>
      </p:nvGrpSpPr>
      <p:grpSpPr>
        <a:xfrm>
          <a:off x="0" y="0"/>
          <a:ext cx="0" cy="0"/>
          <a:chOff x="0" y="0"/>
          <a:chExt cx="0" cy="0"/>
        </a:xfrm>
      </p:grpSpPr>
      <p:sp>
        <p:nvSpPr>
          <p:cNvPr id="181" name="Google Shape;181;p8"/>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82" name="Google Shape;182;p8"/>
          <p:cNvSpPr txBox="1"/>
          <p:nvPr/>
        </p:nvSpPr>
        <p:spPr>
          <a:xfrm>
            <a:off x="719999" y="558417"/>
            <a:ext cx="1695747" cy="323165"/>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Early adopters</a:t>
            </a:r>
            <a:endParaRPr sz="1400" b="0" i="0" u="none" strike="noStrike" cap="none">
              <a:solidFill>
                <a:srgbClr val="000000"/>
              </a:solidFill>
              <a:latin typeface="Arial"/>
              <a:ea typeface="Arial"/>
              <a:cs typeface="Arial"/>
              <a:sym typeface="Arial"/>
            </a:endParaRP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a:t>
            </a:fld>
            <a:endParaRPr/>
          </a:p>
        </p:txBody>
      </p:sp>
      <p:sp>
        <p:nvSpPr>
          <p:cNvPr id="184" name="Google Shape;184;p8"/>
          <p:cNvSpPr txBox="1"/>
          <p:nvPr/>
        </p:nvSpPr>
        <p:spPr>
          <a:xfrm>
            <a:off x="10214497" y="-6794"/>
            <a:ext cx="1910447" cy="1158605"/>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Add notes</a:t>
            </a:r>
            <a:endParaRPr sz="1000" b="0" i="0" u="none" strike="noStrike" cap="none">
              <a:solidFill>
                <a:srgbClr val="182933"/>
              </a:solidFill>
              <a:latin typeface="Outfit"/>
              <a:ea typeface="Outfit"/>
              <a:cs typeface="Outfit"/>
              <a:sym typeface="Outfit"/>
            </a:endParaRPr>
          </a:p>
        </p:txBody>
      </p:sp>
      <p:sp>
        <p:nvSpPr>
          <p:cNvPr id="185" name="Google Shape;185;p8"/>
          <p:cNvSpPr txBox="1"/>
          <p:nvPr/>
        </p:nvSpPr>
        <p:spPr>
          <a:xfrm>
            <a:off x="5758945" y="1455687"/>
            <a:ext cx="3893400" cy="14346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EARLY ADOPTERS</a:t>
            </a:r>
            <a:endParaRPr sz="1400" b="0" i="0" u="none" strike="noStrike" cap="none">
              <a:solidFill>
                <a:srgbClr val="000000"/>
              </a:solidFill>
              <a:latin typeface="Arial"/>
              <a:ea typeface="Arial"/>
              <a:cs typeface="Arial"/>
              <a:sym typeface="Arial"/>
            </a:endParaRPr>
          </a:p>
          <a:p>
            <a:pPr marL="288000" marR="0" lvl="0" indent="-18000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{{early_adopter_1}}</a:t>
            </a:r>
            <a:endParaRPr sz="1400" b="0" i="0" u="none" strike="noStrike" cap="none">
              <a:solidFill>
                <a:srgbClr val="000000"/>
              </a:solidFill>
              <a:latin typeface="Arial"/>
              <a:ea typeface="Arial"/>
              <a:cs typeface="Arial"/>
              <a:sym typeface="Arial"/>
            </a:endParaRPr>
          </a:p>
          <a:p>
            <a:pPr marL="288000" marR="0" lvl="0" indent="-180000" algn="l" rtl="0">
              <a:lnSpc>
                <a:spcPct val="100000"/>
              </a:lnSpc>
              <a:spcBef>
                <a:spcPts val="7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{{early_adopter_2}}</a:t>
            </a:r>
            <a:endParaRPr sz="1400" b="0" i="0" u="none" strike="noStrike" cap="none">
              <a:solidFill>
                <a:srgbClr val="000000"/>
              </a:solidFill>
              <a:latin typeface="Arial"/>
              <a:ea typeface="Arial"/>
              <a:cs typeface="Arial"/>
              <a:sym typeface="Arial"/>
            </a:endParaRPr>
          </a:p>
          <a:p>
            <a:pPr marL="288000" marR="0" lvl="0" indent="-180000" algn="l" rtl="0">
              <a:lnSpc>
                <a:spcPct val="100000"/>
              </a:lnSpc>
              <a:spcBef>
                <a:spcPts val="7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{{early_adopter_3}}</a:t>
            </a:r>
            <a:endParaRPr sz="1400" b="0" i="0" u="none" strike="noStrike" cap="none">
              <a:solidFill>
                <a:srgbClr val="000000"/>
              </a:solidFill>
              <a:latin typeface="Arial"/>
              <a:ea typeface="Arial"/>
              <a:cs typeface="Arial"/>
              <a:sym typeface="Arial"/>
            </a:endParaRPr>
          </a:p>
        </p:txBody>
      </p:sp>
      <p:sp>
        <p:nvSpPr>
          <p:cNvPr id="186" name="Google Shape;186;p8"/>
          <p:cNvSpPr txBox="1"/>
          <p:nvPr/>
        </p:nvSpPr>
        <p:spPr>
          <a:xfrm>
            <a:off x="3526984" y="2651973"/>
            <a:ext cx="2257609"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chemeClr val="dk1"/>
                </a:solidFill>
                <a:latin typeface="Outfit"/>
                <a:ea typeface="Outfit"/>
                <a:cs typeface="Outfit"/>
                <a:sym typeface="Outfit"/>
              </a:rPr>
              <a:t>EARLY ADOPTERS</a:t>
            </a:r>
            <a:endParaRPr sz="1400" b="0" i="0" u="none" strike="noStrike" cap="none">
              <a:solidFill>
                <a:srgbClr val="000000"/>
              </a:solidFill>
              <a:latin typeface="Arial"/>
              <a:ea typeface="Arial"/>
              <a:cs typeface="Arial"/>
              <a:sym typeface="Arial"/>
            </a:endParaRPr>
          </a:p>
        </p:txBody>
      </p:sp>
      <p:pic>
        <p:nvPicPr>
          <p:cNvPr id="187" name="Google Shape;187;p8"/>
          <p:cNvPicPr preferRelativeResize="0"/>
          <p:nvPr/>
        </p:nvPicPr>
        <p:blipFill rotWithShape="1">
          <a:blip r:embed="rId3">
            <a:alphaModFix/>
          </a:blip>
          <a:srcRect/>
          <a:stretch/>
        </p:blipFill>
        <p:spPr>
          <a:xfrm>
            <a:off x="734623" y="1812290"/>
            <a:ext cx="2541082" cy="2258738"/>
          </a:xfrm>
          <a:prstGeom prst="rect">
            <a:avLst/>
          </a:prstGeom>
          <a:noFill/>
          <a:ln>
            <a:noFill/>
          </a:ln>
        </p:spPr>
      </p:pic>
      <p:pic>
        <p:nvPicPr>
          <p:cNvPr id="188" name="Google Shape;188;p8"/>
          <p:cNvPicPr preferRelativeResize="0"/>
          <p:nvPr/>
        </p:nvPicPr>
        <p:blipFill rotWithShape="1">
          <a:blip r:embed="rId4">
            <a:alphaModFix/>
          </a:blip>
          <a:srcRect/>
          <a:stretch/>
        </p:blipFill>
        <p:spPr>
          <a:xfrm>
            <a:off x="1427473" y="2454343"/>
            <a:ext cx="1155382" cy="1027006"/>
          </a:xfrm>
          <a:prstGeom prst="rect">
            <a:avLst/>
          </a:prstGeom>
          <a:noFill/>
          <a:ln>
            <a:noFill/>
          </a:ln>
        </p:spPr>
      </p:pic>
      <p:cxnSp>
        <p:nvCxnSpPr>
          <p:cNvPr id="189" name="Google Shape;189;p8"/>
          <p:cNvCxnSpPr>
            <a:stCxn id="186" idx="1"/>
          </p:cNvCxnSpPr>
          <p:nvPr/>
        </p:nvCxnSpPr>
        <p:spPr>
          <a:xfrm rot="10800000">
            <a:off x="2582884" y="2813556"/>
            <a:ext cx="944100" cy="0"/>
          </a:xfrm>
          <a:prstGeom prst="straightConnector1">
            <a:avLst/>
          </a:prstGeom>
          <a:noFill/>
          <a:ln w="9525" cap="flat" cmpd="sng">
            <a:solidFill>
              <a:schemeClr val="dk1"/>
            </a:solidFill>
            <a:prstDash val="solid"/>
            <a:miter lim="800000"/>
            <a:headEnd type="none" w="sm" len="sm"/>
            <a:tailEnd type="oval" w="med" len="med"/>
          </a:ln>
        </p:spPr>
      </p:cxnSp>
      <p:sp>
        <p:nvSpPr>
          <p:cNvPr id="190" name="Google Shape;190;p8"/>
          <p:cNvSpPr txBox="1"/>
          <p:nvPr/>
        </p:nvSpPr>
        <p:spPr>
          <a:xfrm>
            <a:off x="3846576" y="2335049"/>
            <a:ext cx="1618426" cy="3231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BFBFBF"/>
                </a:solidFill>
                <a:latin typeface="Outfit"/>
                <a:ea typeface="Outfit"/>
                <a:cs typeface="Outfit"/>
                <a:sym typeface="Outfit"/>
              </a:rPr>
              <a:t>CUSTOMERS</a:t>
            </a:r>
            <a:endParaRPr sz="1400" b="0" i="0" u="none" strike="noStrike" cap="none">
              <a:solidFill>
                <a:srgbClr val="000000"/>
              </a:solidFill>
              <a:latin typeface="Arial"/>
              <a:ea typeface="Arial"/>
              <a:cs typeface="Arial"/>
              <a:sym typeface="Arial"/>
            </a:endParaRPr>
          </a:p>
        </p:txBody>
      </p:sp>
      <p:cxnSp>
        <p:nvCxnSpPr>
          <p:cNvPr id="191" name="Google Shape;191;p8"/>
          <p:cNvCxnSpPr>
            <a:stCxn id="190" idx="1"/>
          </p:cNvCxnSpPr>
          <p:nvPr/>
        </p:nvCxnSpPr>
        <p:spPr>
          <a:xfrm rot="10800000">
            <a:off x="3266976" y="2496632"/>
            <a:ext cx="579600" cy="0"/>
          </a:xfrm>
          <a:prstGeom prst="straightConnector1">
            <a:avLst/>
          </a:prstGeom>
          <a:noFill/>
          <a:ln w="9525" cap="flat" cmpd="sng">
            <a:solidFill>
              <a:srgbClr val="BFBFBF"/>
            </a:solidFill>
            <a:prstDash val="solid"/>
            <a:miter lim="800000"/>
            <a:headEnd type="none" w="sm" len="sm"/>
            <a:tailEnd type="oval" w="med" len="med"/>
          </a:ln>
        </p:spPr>
      </p:cxnSp>
      <p:sp>
        <p:nvSpPr>
          <p:cNvPr id="192" name="Google Shape;192;p8"/>
          <p:cNvSpPr/>
          <p:nvPr/>
        </p:nvSpPr>
        <p:spPr>
          <a:xfrm>
            <a:off x="1077613" y="4872346"/>
            <a:ext cx="6717141" cy="1622380"/>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Early adopters explained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Early adopters are the people who might be most likely to buy the product when marketed to. We recommend you orient your product to these people initially.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We try to identify these people by thinking about the so-called “switching triggers” which cause them to look for a better solution.</a:t>
            </a:r>
            <a:endParaRPr sz="1400" b="0" i="0" u="none" strike="noStrike" cap="none">
              <a:solidFill>
                <a:srgbClr val="000000"/>
              </a:solidFill>
              <a:latin typeface="Arial"/>
              <a:ea typeface="Arial"/>
              <a:cs typeface="Arial"/>
              <a:sym typeface="Arial"/>
            </a:endParaRPr>
          </a:p>
        </p:txBody>
      </p:sp>
      <p:pic>
        <p:nvPicPr>
          <p:cNvPr id="193" name="Google Shape;193;p8"/>
          <p:cNvPicPr preferRelativeResize="0"/>
          <p:nvPr/>
        </p:nvPicPr>
        <p:blipFill rotWithShape="1">
          <a:blip r:embed="rId5">
            <a:alphaModFix/>
          </a:blip>
          <a:srcRect/>
          <a:stretch/>
        </p:blipFill>
        <p:spPr>
          <a:xfrm>
            <a:off x="1025300" y="5057192"/>
            <a:ext cx="187332" cy="27308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197"/>
        <p:cNvGrpSpPr/>
        <p:nvPr/>
      </p:nvGrpSpPr>
      <p:grpSpPr>
        <a:xfrm>
          <a:off x="0" y="0"/>
          <a:ext cx="0" cy="0"/>
          <a:chOff x="0" y="0"/>
          <a:chExt cx="0" cy="0"/>
        </a:xfrm>
      </p:grpSpPr>
      <p:sp>
        <p:nvSpPr>
          <p:cNvPr id="198" name="Google Shape;198;p9"/>
          <p:cNvSpPr/>
          <p:nvPr/>
        </p:nvSpPr>
        <p:spPr>
          <a:xfrm>
            <a:off x="498513" y="1549735"/>
            <a:ext cx="9404912" cy="478219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a:solidFill>
                  <a:schemeClr val="lt1"/>
                </a:solidFill>
                <a:latin typeface="Outfit"/>
                <a:ea typeface="Outfit"/>
                <a:cs typeface="Outfit"/>
                <a:sym typeface="Outfit"/>
              </a:rPr>
              <a:t>{{</a:t>
            </a:r>
            <a:endParaRPr sz="1800" b="0" i="0" u="none" strike="noStrike" cap="none">
              <a:solidFill>
                <a:schemeClr val="lt1"/>
              </a:solidFill>
              <a:latin typeface="Outfit"/>
              <a:ea typeface="Outfit"/>
              <a:cs typeface="Outfit"/>
              <a:sym typeface="Outfit"/>
            </a:endParaRPr>
          </a:p>
        </p:txBody>
      </p:sp>
      <p:sp>
        <p:nvSpPr>
          <p:cNvPr id="199" name="Google Shape;199;p9"/>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00" name="Google Shape;200;p9"/>
          <p:cNvSpPr txBox="1"/>
          <p:nvPr/>
        </p:nvSpPr>
        <p:spPr>
          <a:xfrm>
            <a:off x="720001" y="558417"/>
            <a:ext cx="2220907" cy="323165"/>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Existing alternatives</a:t>
            </a:r>
            <a:endParaRPr sz="1400" b="0" i="0" u="none" strike="noStrike" cap="none">
              <a:solidFill>
                <a:srgbClr val="000000"/>
              </a:solidFill>
              <a:latin typeface="Arial"/>
              <a:ea typeface="Arial"/>
              <a:cs typeface="Arial"/>
              <a:sym typeface="Arial"/>
            </a:endParaRPr>
          </a:p>
        </p:txBody>
      </p:sp>
      <p:sp>
        <p:nvSpPr>
          <p:cNvPr id="201" name="Google Shape;20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9</a:t>
            </a:fld>
            <a:endParaRPr/>
          </a:p>
        </p:txBody>
      </p:sp>
      <p:sp>
        <p:nvSpPr>
          <p:cNvPr id="202" name="Google Shape;202;p9"/>
          <p:cNvSpPr txBox="1"/>
          <p:nvPr/>
        </p:nvSpPr>
        <p:spPr>
          <a:xfrm>
            <a:off x="4216432" y="2962317"/>
            <a:ext cx="2943900" cy="113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HOW IT DOES THE JOB</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{{alt_doesjob1_1}}</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{{alt_doesjob1_2}}</a:t>
            </a:r>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{{alt_doesjob1_3}}</a:t>
            </a:r>
            <a:endParaRPr sz="1250" b="1" i="0" u="none" strike="noStrike" cap="none">
              <a:solidFill>
                <a:srgbClr val="182933"/>
              </a:solidFill>
              <a:latin typeface="Outfit"/>
              <a:ea typeface="Outfit"/>
              <a:cs typeface="Outfit"/>
              <a:sym typeface="Outfit"/>
            </a:endParaRPr>
          </a:p>
        </p:txBody>
      </p:sp>
      <p:sp>
        <p:nvSpPr>
          <p:cNvPr id="203" name="Google Shape;203;p9"/>
          <p:cNvSpPr txBox="1"/>
          <p:nvPr/>
        </p:nvSpPr>
        <p:spPr>
          <a:xfrm>
            <a:off x="4216433" y="1792339"/>
            <a:ext cx="56869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a:solidFill>
                  <a:srgbClr val="182933"/>
                </a:solidFill>
                <a:latin typeface="Outfit"/>
                <a:ea typeface="Outfit"/>
                <a:cs typeface="Outfit"/>
                <a:sym typeface="Outfit"/>
              </a:rPr>
              <a:t>{{alt_p</a:t>
            </a:r>
            <a:r>
              <a:rPr lang="en-GB" sz="2000" b="1" i="0" u="none" strike="noStrike" cap="none">
                <a:solidFill>
                  <a:srgbClr val="182933"/>
                </a:solidFill>
                <a:latin typeface="Outfit"/>
                <a:ea typeface="Outfit"/>
                <a:cs typeface="Outfit"/>
                <a:sym typeface="Outfit"/>
              </a:rPr>
              <a:t>roduct</a:t>
            </a:r>
            <a:r>
              <a:rPr lang="en-GB" sz="2000" b="1">
                <a:solidFill>
                  <a:srgbClr val="182933"/>
                </a:solidFill>
                <a:latin typeface="Outfit"/>
                <a:ea typeface="Outfit"/>
                <a:cs typeface="Outfit"/>
                <a:sym typeface="Outfit"/>
              </a:rPr>
              <a:t>_n</a:t>
            </a:r>
            <a:r>
              <a:rPr lang="en-GB" sz="2000" b="1" i="0" u="none" strike="noStrike" cap="none">
                <a:solidFill>
                  <a:srgbClr val="182933"/>
                </a:solidFill>
                <a:latin typeface="Outfit"/>
                <a:ea typeface="Outfit"/>
                <a:cs typeface="Outfit"/>
                <a:sym typeface="Outfit"/>
              </a:rPr>
              <a:t>ame_1}}</a:t>
            </a:r>
            <a:endParaRPr sz="1400" b="0" i="0" u="none" strike="noStrike" cap="none">
              <a:solidFill>
                <a:srgbClr val="000000"/>
              </a:solidFill>
              <a:latin typeface="Arial"/>
              <a:ea typeface="Arial"/>
              <a:cs typeface="Arial"/>
              <a:sym typeface="Arial"/>
            </a:endParaRPr>
          </a:p>
        </p:txBody>
      </p:sp>
      <p:sp>
        <p:nvSpPr>
          <p:cNvPr id="204" name="Google Shape;204;p9"/>
          <p:cNvSpPr txBox="1"/>
          <p:nvPr/>
        </p:nvSpPr>
        <p:spPr>
          <a:xfrm>
            <a:off x="4216433" y="2256404"/>
            <a:ext cx="2306278" cy="477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82933"/>
              </a:buClr>
              <a:buSzPts val="1000"/>
              <a:buFont typeface="Outfit"/>
              <a:buNone/>
            </a:pPr>
            <a:r>
              <a:rPr lang="en-GB" sz="1000" b="1" i="0" u="none" strike="noStrike" cap="none">
                <a:solidFill>
                  <a:srgbClr val="182933"/>
                </a:solidFill>
                <a:latin typeface="Outfit"/>
                <a:ea typeface="Outfit"/>
                <a:cs typeface="Outfit"/>
                <a:sym typeface="Outfit"/>
              </a:rPr>
              <a:t>BRAND</a:t>
            </a:r>
            <a:br>
              <a:rPr lang="en-GB" sz="1000" b="1" i="0" u="none" strike="noStrike" cap="none">
                <a:solidFill>
                  <a:srgbClr val="182933"/>
                </a:solidFill>
                <a:latin typeface="Outfit"/>
                <a:ea typeface="Outfit"/>
                <a:cs typeface="Outfit"/>
                <a:sym typeface="Outfit"/>
              </a:rPr>
            </a:br>
            <a:r>
              <a:rPr lang="en-GB" sz="1500" b="1">
                <a:solidFill>
                  <a:srgbClr val="182933"/>
                </a:solidFill>
                <a:latin typeface="Outfit"/>
                <a:ea typeface="Outfit"/>
                <a:cs typeface="Outfit"/>
                <a:sym typeface="Outfit"/>
              </a:rPr>
              <a:t>{{alt_</a:t>
            </a:r>
            <a:r>
              <a:rPr lang="en-GB" sz="1500" b="1" i="0" u="none" strike="noStrike" cap="none">
                <a:solidFill>
                  <a:srgbClr val="182933"/>
                </a:solidFill>
                <a:latin typeface="Outfit"/>
                <a:ea typeface="Outfit"/>
                <a:cs typeface="Outfit"/>
                <a:sym typeface="Outfit"/>
              </a:rPr>
              <a:t>brand_1}}</a:t>
            </a:r>
            <a:endParaRPr sz="1400" b="0" i="0" u="none" strike="noStrike" cap="none">
              <a:solidFill>
                <a:srgbClr val="000000"/>
              </a:solidFill>
              <a:latin typeface="Arial"/>
              <a:ea typeface="Arial"/>
              <a:cs typeface="Arial"/>
              <a:sym typeface="Arial"/>
            </a:endParaRPr>
          </a:p>
        </p:txBody>
      </p:sp>
      <p:sp>
        <p:nvSpPr>
          <p:cNvPr id="205" name="Google Shape;205;p9"/>
          <p:cNvSpPr txBox="1"/>
          <p:nvPr/>
        </p:nvSpPr>
        <p:spPr>
          <a:xfrm>
            <a:off x="1830455" y="5349999"/>
            <a:ext cx="1846195" cy="28469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a:solidFill>
                  <a:srgbClr val="002060"/>
                </a:solidFill>
                <a:latin typeface="Outfit"/>
                <a:ea typeface="Outfit"/>
                <a:cs typeface="Outfit"/>
                <a:sym typeface="Outfit"/>
              </a:rPr>
              <a:t>{{alt_url_1}}</a:t>
            </a:r>
            <a:endParaRPr sz="1250" b="1" i="0" u="none" strike="noStrike" cap="none">
              <a:solidFill>
                <a:srgbClr val="002060"/>
              </a:solidFill>
              <a:latin typeface="Outfit"/>
              <a:ea typeface="Outfit"/>
              <a:cs typeface="Outfit"/>
              <a:sym typeface="Outfit"/>
            </a:endParaRPr>
          </a:p>
        </p:txBody>
      </p:sp>
      <p:sp>
        <p:nvSpPr>
          <p:cNvPr id="206" name="Google Shape;206;p9"/>
          <p:cNvSpPr txBox="1"/>
          <p:nvPr/>
        </p:nvSpPr>
        <p:spPr>
          <a:xfrm>
            <a:off x="10214497" y="-6794"/>
            <a:ext cx="1910447" cy="1158605"/>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Add sidenote.</a:t>
            </a:r>
            <a:endParaRPr sz="1400" b="0" i="0" u="none" strike="noStrike" cap="none">
              <a:solidFill>
                <a:srgbClr val="000000"/>
              </a:solidFill>
              <a:latin typeface="Arial"/>
              <a:ea typeface="Arial"/>
              <a:cs typeface="Arial"/>
              <a:sym typeface="Arial"/>
            </a:endParaRPr>
          </a:p>
        </p:txBody>
      </p:sp>
      <p:sp>
        <p:nvSpPr>
          <p:cNvPr id="207" name="Google Shape;207;p9"/>
          <p:cNvSpPr txBox="1"/>
          <p:nvPr/>
        </p:nvSpPr>
        <p:spPr>
          <a:xfrm>
            <a:off x="7160225" y="2256404"/>
            <a:ext cx="2743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dirty="0">
                <a:solidFill>
                  <a:srgbClr val="182933"/>
                </a:solidFill>
                <a:latin typeface="Outfit"/>
                <a:ea typeface="Outfit"/>
                <a:cs typeface="Outfit"/>
                <a:sym typeface="Outfit"/>
              </a:rPr>
              <a:t>PRICE</a:t>
            </a:r>
            <a:endParaRPr sz="1000" b="1" i="0" u="none" strike="noStrike" cap="none" dirty="0">
              <a:solidFill>
                <a:srgbClr val="182933"/>
              </a:solidFill>
              <a:latin typeface="Outfit"/>
              <a:ea typeface="Outfit"/>
              <a:cs typeface="Outfit"/>
              <a:sym typeface="Outfit"/>
            </a:endParaRPr>
          </a:p>
          <a:p>
            <a:pPr marL="0" marR="0" lvl="0" indent="0" algn="l" rtl="0">
              <a:lnSpc>
                <a:spcPct val="100000"/>
              </a:lnSpc>
              <a:spcBef>
                <a:spcPts val="0"/>
              </a:spcBef>
              <a:spcAft>
                <a:spcPts val="0"/>
              </a:spcAft>
              <a:buClr>
                <a:srgbClr val="000000"/>
              </a:buClr>
              <a:buSzPts val="1400"/>
              <a:buFont typeface="Arial"/>
              <a:buNone/>
            </a:pPr>
            <a:r>
              <a:rPr lang="en-GB" b="1" dirty="0">
                <a:solidFill>
                  <a:srgbClr val="182933"/>
                </a:solidFill>
                <a:latin typeface="Outfit"/>
                <a:ea typeface="Outfit"/>
                <a:cs typeface="Outfit"/>
                <a:sym typeface="Outfit"/>
              </a:rPr>
              <a:t>{{alt_price_1}}</a:t>
            </a:r>
            <a:endParaRPr sz="1400" b="0" i="0" u="none" strike="noStrike" cap="none" dirty="0">
              <a:solidFill>
                <a:srgbClr val="182933"/>
              </a:solidFill>
              <a:latin typeface="Outfit"/>
              <a:ea typeface="Outfit"/>
              <a:cs typeface="Outfit"/>
              <a:sym typeface="Outfit"/>
            </a:endParaRPr>
          </a:p>
        </p:txBody>
      </p:sp>
      <p:sp>
        <p:nvSpPr>
          <p:cNvPr id="208" name="Google Shape;208;p9"/>
          <p:cNvSpPr txBox="1"/>
          <p:nvPr/>
        </p:nvSpPr>
        <p:spPr>
          <a:xfrm>
            <a:off x="7122904" y="2962317"/>
            <a:ext cx="2780400" cy="113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PROBLEMS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{{alt_prob1_</a:t>
            </a:r>
            <a:r>
              <a:rPr lang="en-GB" sz="1250" b="1" i="0" u="none" strike="noStrike" cap="none">
                <a:solidFill>
                  <a:srgbClr val="182933"/>
                </a:solidFill>
                <a:latin typeface="Outfit"/>
                <a:ea typeface="Outfit"/>
                <a:cs typeface="Outfit"/>
                <a:sym typeface="Outfit"/>
              </a:rPr>
              <a:t>1}}</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{{alt_prob1_2}}</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{{alt_prob1_3}}</a:t>
            </a:r>
            <a:endParaRPr sz="1250" b="1" i="0" u="none" strike="noStrike" cap="none">
              <a:solidFill>
                <a:srgbClr val="182933"/>
              </a:solidFill>
              <a:latin typeface="Outfit"/>
              <a:ea typeface="Outfit"/>
              <a:cs typeface="Outfit"/>
              <a:sym typeface="Outfit"/>
            </a:endParaRPr>
          </a:p>
        </p:txBody>
      </p:sp>
      <p:sp>
        <p:nvSpPr>
          <p:cNvPr id="209" name="Google Shape;209;p9"/>
          <p:cNvSpPr txBox="1"/>
          <p:nvPr/>
        </p:nvSpPr>
        <p:spPr>
          <a:xfrm>
            <a:off x="815300" y="2089225"/>
            <a:ext cx="2743200" cy="264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chemeClr val="dk1"/>
                </a:solidFill>
                <a:latin typeface="Outfit"/>
                <a:ea typeface="Outfit"/>
                <a:cs typeface="Outfit"/>
                <a:sym typeface="Outfit"/>
              </a:rPr>
              <a:t>{{alt_img_1}}</a:t>
            </a:r>
            <a:endParaRPr sz="2800">
              <a:solidFill>
                <a:schemeClr val="dk1"/>
              </a:solidFill>
              <a:latin typeface="Outfit"/>
              <a:ea typeface="Outfit"/>
              <a:cs typeface="Outfit"/>
              <a:sym typeface="Outfi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13"/>
        <p:cNvGrpSpPr/>
        <p:nvPr/>
      </p:nvGrpSpPr>
      <p:grpSpPr>
        <a:xfrm>
          <a:off x="0" y="0"/>
          <a:ext cx="0" cy="0"/>
          <a:chOff x="0" y="0"/>
          <a:chExt cx="0" cy="0"/>
        </a:xfrm>
      </p:grpSpPr>
      <p:sp>
        <p:nvSpPr>
          <p:cNvPr id="214" name="Google Shape;214;g386762f2b93_0_0"/>
          <p:cNvSpPr/>
          <p:nvPr/>
        </p:nvSpPr>
        <p:spPr>
          <a:xfrm>
            <a:off x="498513" y="1549735"/>
            <a:ext cx="9405000" cy="4782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15" name="Google Shape;215;g386762f2b93_0_0"/>
          <p:cNvSpPr/>
          <p:nvPr/>
        </p:nvSpPr>
        <p:spPr>
          <a:xfrm>
            <a:off x="10214497" y="-6794"/>
            <a:ext cx="1977600" cy="6864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16" name="Google Shape;216;g386762f2b93_0_0"/>
          <p:cNvSpPr txBox="1"/>
          <p:nvPr/>
        </p:nvSpPr>
        <p:spPr>
          <a:xfrm>
            <a:off x="720001" y="558417"/>
            <a:ext cx="2220900" cy="323100"/>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Existing alternatives</a:t>
            </a:r>
            <a:endParaRPr sz="1400" b="0" i="0" u="none" strike="noStrike" cap="none">
              <a:solidFill>
                <a:srgbClr val="000000"/>
              </a:solidFill>
              <a:latin typeface="Arial"/>
              <a:ea typeface="Arial"/>
              <a:cs typeface="Arial"/>
              <a:sym typeface="Arial"/>
            </a:endParaRPr>
          </a:p>
        </p:txBody>
      </p:sp>
      <p:sp>
        <p:nvSpPr>
          <p:cNvPr id="217" name="Google Shape;217;g386762f2b93_0_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10</a:t>
            </a:fld>
            <a:endParaRPr/>
          </a:p>
        </p:txBody>
      </p:sp>
      <p:sp>
        <p:nvSpPr>
          <p:cNvPr id="218" name="Google Shape;218;g386762f2b93_0_0"/>
          <p:cNvSpPr txBox="1"/>
          <p:nvPr/>
        </p:nvSpPr>
        <p:spPr>
          <a:xfrm>
            <a:off x="4216432" y="2962317"/>
            <a:ext cx="2943900" cy="113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HOW IT DOES THE JOB</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{{alt_doesjob2_1}}</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{{alt_doesjob2_2}}</a:t>
            </a:r>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{{alt_doesjob2_3}}</a:t>
            </a:r>
            <a:endParaRPr sz="1250" b="1" i="0" u="none" strike="noStrike" cap="none">
              <a:solidFill>
                <a:srgbClr val="182933"/>
              </a:solidFill>
              <a:latin typeface="Outfit"/>
              <a:ea typeface="Outfit"/>
              <a:cs typeface="Outfit"/>
              <a:sym typeface="Outfit"/>
            </a:endParaRPr>
          </a:p>
        </p:txBody>
      </p:sp>
      <p:sp>
        <p:nvSpPr>
          <p:cNvPr id="219" name="Google Shape;219;g386762f2b93_0_0"/>
          <p:cNvSpPr txBox="1"/>
          <p:nvPr/>
        </p:nvSpPr>
        <p:spPr>
          <a:xfrm>
            <a:off x="4216433" y="1792339"/>
            <a:ext cx="56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a:solidFill>
                  <a:srgbClr val="182933"/>
                </a:solidFill>
                <a:latin typeface="Outfit"/>
                <a:ea typeface="Outfit"/>
                <a:cs typeface="Outfit"/>
                <a:sym typeface="Outfit"/>
              </a:rPr>
              <a:t>{{alt_p</a:t>
            </a:r>
            <a:r>
              <a:rPr lang="en-GB" sz="2000" b="1" i="0" u="none" strike="noStrike" cap="none">
                <a:solidFill>
                  <a:srgbClr val="182933"/>
                </a:solidFill>
                <a:latin typeface="Outfit"/>
                <a:ea typeface="Outfit"/>
                <a:cs typeface="Outfit"/>
                <a:sym typeface="Outfit"/>
              </a:rPr>
              <a:t>roduct</a:t>
            </a:r>
            <a:r>
              <a:rPr lang="en-GB" sz="2000" b="1">
                <a:solidFill>
                  <a:srgbClr val="182933"/>
                </a:solidFill>
                <a:latin typeface="Outfit"/>
                <a:ea typeface="Outfit"/>
                <a:cs typeface="Outfit"/>
                <a:sym typeface="Outfit"/>
              </a:rPr>
              <a:t>_n</a:t>
            </a:r>
            <a:r>
              <a:rPr lang="en-GB" sz="2000" b="1" i="0" u="none" strike="noStrike" cap="none">
                <a:solidFill>
                  <a:srgbClr val="182933"/>
                </a:solidFill>
                <a:latin typeface="Outfit"/>
                <a:ea typeface="Outfit"/>
                <a:cs typeface="Outfit"/>
                <a:sym typeface="Outfit"/>
              </a:rPr>
              <a:t>ame_</a:t>
            </a:r>
            <a:r>
              <a:rPr lang="en-GB" sz="2000" b="1">
                <a:solidFill>
                  <a:srgbClr val="182933"/>
                </a:solidFill>
                <a:latin typeface="Outfit"/>
                <a:ea typeface="Outfit"/>
                <a:cs typeface="Outfit"/>
                <a:sym typeface="Outfit"/>
              </a:rPr>
              <a:t>2</a:t>
            </a:r>
            <a:r>
              <a:rPr lang="en-GB" sz="2000" b="1" i="0" u="none" strike="noStrike" cap="none">
                <a:solidFill>
                  <a:srgbClr val="182933"/>
                </a:solidFill>
                <a:latin typeface="Outfit"/>
                <a:ea typeface="Outfit"/>
                <a:cs typeface="Outfit"/>
                <a:sym typeface="Outfit"/>
              </a:rPr>
              <a:t>}}</a:t>
            </a:r>
            <a:endParaRPr sz="1400" b="0" i="0" u="none" strike="noStrike" cap="none">
              <a:solidFill>
                <a:srgbClr val="000000"/>
              </a:solidFill>
              <a:latin typeface="Arial"/>
              <a:ea typeface="Arial"/>
              <a:cs typeface="Arial"/>
              <a:sym typeface="Arial"/>
            </a:endParaRPr>
          </a:p>
        </p:txBody>
      </p:sp>
      <p:sp>
        <p:nvSpPr>
          <p:cNvPr id="220" name="Google Shape;220;g386762f2b93_0_0"/>
          <p:cNvSpPr txBox="1"/>
          <p:nvPr/>
        </p:nvSpPr>
        <p:spPr>
          <a:xfrm>
            <a:off x="4216433" y="2256404"/>
            <a:ext cx="23064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82933"/>
              </a:buClr>
              <a:buSzPts val="1000"/>
              <a:buFont typeface="Outfit"/>
              <a:buNone/>
            </a:pPr>
            <a:r>
              <a:rPr lang="en-GB" sz="1000" b="1" i="0" u="none" strike="noStrike" cap="none">
                <a:solidFill>
                  <a:srgbClr val="182933"/>
                </a:solidFill>
                <a:latin typeface="Outfit"/>
                <a:ea typeface="Outfit"/>
                <a:cs typeface="Outfit"/>
                <a:sym typeface="Outfit"/>
              </a:rPr>
              <a:t>BRAND</a:t>
            </a:r>
            <a:br>
              <a:rPr lang="en-GB" sz="1000" b="1" i="0" u="none" strike="noStrike" cap="none">
                <a:solidFill>
                  <a:srgbClr val="182933"/>
                </a:solidFill>
                <a:latin typeface="Outfit"/>
                <a:ea typeface="Outfit"/>
                <a:cs typeface="Outfit"/>
                <a:sym typeface="Outfit"/>
              </a:rPr>
            </a:br>
            <a:r>
              <a:rPr lang="en-GB" sz="1500" b="1">
                <a:solidFill>
                  <a:srgbClr val="182933"/>
                </a:solidFill>
                <a:latin typeface="Outfit"/>
                <a:ea typeface="Outfit"/>
                <a:cs typeface="Outfit"/>
                <a:sym typeface="Outfit"/>
              </a:rPr>
              <a:t>{{alt_</a:t>
            </a:r>
            <a:r>
              <a:rPr lang="en-GB" sz="1500" b="1" i="0" u="none" strike="noStrike" cap="none">
                <a:solidFill>
                  <a:srgbClr val="182933"/>
                </a:solidFill>
                <a:latin typeface="Outfit"/>
                <a:ea typeface="Outfit"/>
                <a:cs typeface="Outfit"/>
                <a:sym typeface="Outfit"/>
              </a:rPr>
              <a:t>brand_</a:t>
            </a:r>
            <a:r>
              <a:rPr lang="en-GB" sz="1500" b="1">
                <a:solidFill>
                  <a:srgbClr val="182933"/>
                </a:solidFill>
                <a:latin typeface="Outfit"/>
                <a:ea typeface="Outfit"/>
                <a:cs typeface="Outfit"/>
                <a:sym typeface="Outfit"/>
              </a:rPr>
              <a:t>2</a:t>
            </a:r>
            <a:r>
              <a:rPr lang="en-GB" sz="1500" b="1" i="0" u="none" strike="noStrike" cap="none">
                <a:solidFill>
                  <a:srgbClr val="182933"/>
                </a:solidFill>
                <a:latin typeface="Outfit"/>
                <a:ea typeface="Outfit"/>
                <a:cs typeface="Outfit"/>
                <a:sym typeface="Outfit"/>
              </a:rPr>
              <a:t>}}</a:t>
            </a:r>
            <a:endParaRPr sz="1400" b="0" i="0" u="none" strike="noStrike" cap="none">
              <a:solidFill>
                <a:srgbClr val="000000"/>
              </a:solidFill>
              <a:latin typeface="Arial"/>
              <a:ea typeface="Arial"/>
              <a:cs typeface="Arial"/>
              <a:sym typeface="Arial"/>
            </a:endParaRPr>
          </a:p>
        </p:txBody>
      </p:sp>
      <p:sp>
        <p:nvSpPr>
          <p:cNvPr id="221" name="Google Shape;221;g386762f2b93_0_0"/>
          <p:cNvSpPr txBox="1"/>
          <p:nvPr/>
        </p:nvSpPr>
        <p:spPr>
          <a:xfrm>
            <a:off x="1830455" y="5349999"/>
            <a:ext cx="1846200" cy="2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a:solidFill>
                  <a:srgbClr val="002060"/>
                </a:solidFill>
                <a:latin typeface="Outfit"/>
                <a:ea typeface="Outfit"/>
                <a:cs typeface="Outfit"/>
                <a:sym typeface="Outfit"/>
              </a:rPr>
              <a:t>{{alt_url_2}}</a:t>
            </a:r>
            <a:endParaRPr sz="1250" b="1" i="0" u="none" strike="noStrike" cap="none">
              <a:solidFill>
                <a:srgbClr val="002060"/>
              </a:solidFill>
              <a:latin typeface="Outfit"/>
              <a:ea typeface="Outfit"/>
              <a:cs typeface="Outfit"/>
              <a:sym typeface="Outfit"/>
            </a:endParaRPr>
          </a:p>
        </p:txBody>
      </p:sp>
      <p:sp>
        <p:nvSpPr>
          <p:cNvPr id="222" name="Google Shape;222;g386762f2b93_0_0"/>
          <p:cNvSpPr txBox="1"/>
          <p:nvPr/>
        </p:nvSpPr>
        <p:spPr>
          <a:xfrm>
            <a:off x="10214497" y="-6794"/>
            <a:ext cx="1910400" cy="1146000"/>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Add sidenote.</a:t>
            </a:r>
            <a:endParaRPr sz="1400" b="0" i="0" u="none" strike="noStrike" cap="none">
              <a:solidFill>
                <a:srgbClr val="000000"/>
              </a:solidFill>
              <a:latin typeface="Arial"/>
              <a:ea typeface="Arial"/>
              <a:cs typeface="Arial"/>
              <a:sym typeface="Arial"/>
            </a:endParaRPr>
          </a:p>
        </p:txBody>
      </p:sp>
      <p:sp>
        <p:nvSpPr>
          <p:cNvPr id="223" name="Google Shape;223;g386762f2b93_0_0"/>
          <p:cNvSpPr txBox="1"/>
          <p:nvPr/>
        </p:nvSpPr>
        <p:spPr>
          <a:xfrm>
            <a:off x="7160225" y="2256404"/>
            <a:ext cx="2743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dirty="0">
                <a:solidFill>
                  <a:srgbClr val="182933"/>
                </a:solidFill>
                <a:latin typeface="Outfit"/>
                <a:ea typeface="Outfit"/>
                <a:cs typeface="Outfit"/>
                <a:sym typeface="Outfit"/>
              </a:rPr>
              <a:t>PRICE</a:t>
            </a:r>
            <a:endParaRPr sz="1000" b="1" i="0" u="none" strike="noStrike" cap="none" dirty="0">
              <a:solidFill>
                <a:srgbClr val="182933"/>
              </a:solidFill>
              <a:latin typeface="Outfit"/>
              <a:ea typeface="Outfit"/>
              <a:cs typeface="Outfit"/>
              <a:sym typeface="Outfit"/>
            </a:endParaRPr>
          </a:p>
          <a:p>
            <a:pPr marL="0" marR="0" lvl="0" indent="0" algn="l" rtl="0">
              <a:lnSpc>
                <a:spcPct val="100000"/>
              </a:lnSpc>
              <a:spcBef>
                <a:spcPts val="0"/>
              </a:spcBef>
              <a:spcAft>
                <a:spcPts val="0"/>
              </a:spcAft>
              <a:buClr>
                <a:srgbClr val="000000"/>
              </a:buClr>
              <a:buSzPts val="1400"/>
              <a:buFont typeface="Arial"/>
              <a:buNone/>
            </a:pPr>
            <a:r>
              <a:rPr lang="en-GB" b="1" dirty="0">
                <a:solidFill>
                  <a:srgbClr val="182933"/>
                </a:solidFill>
                <a:latin typeface="Outfit"/>
                <a:ea typeface="Outfit"/>
                <a:cs typeface="Outfit"/>
                <a:sym typeface="Outfit"/>
              </a:rPr>
              <a:t>{{alt_price_2}}</a:t>
            </a:r>
            <a:endParaRPr sz="1400" b="0" i="0" u="none" strike="noStrike" cap="none" dirty="0">
              <a:solidFill>
                <a:srgbClr val="182933"/>
              </a:solidFill>
              <a:latin typeface="Outfit"/>
              <a:ea typeface="Outfit"/>
              <a:cs typeface="Outfit"/>
              <a:sym typeface="Outfit"/>
            </a:endParaRPr>
          </a:p>
        </p:txBody>
      </p:sp>
      <p:sp>
        <p:nvSpPr>
          <p:cNvPr id="224" name="Google Shape;224;g386762f2b93_0_0"/>
          <p:cNvSpPr txBox="1"/>
          <p:nvPr/>
        </p:nvSpPr>
        <p:spPr>
          <a:xfrm>
            <a:off x="7122904" y="2962317"/>
            <a:ext cx="2780400" cy="113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PROBLEMS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{{alt_prob2_</a:t>
            </a:r>
            <a:r>
              <a:rPr lang="en-GB" sz="1250" b="1" i="0" u="none" strike="noStrike" cap="none">
                <a:solidFill>
                  <a:srgbClr val="182933"/>
                </a:solidFill>
                <a:latin typeface="Outfit"/>
                <a:ea typeface="Outfit"/>
                <a:cs typeface="Outfit"/>
                <a:sym typeface="Outfit"/>
              </a:rPr>
              <a:t>1}}</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{{alt_prob2_2}}</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{{alt_prob2_3}}</a:t>
            </a:r>
            <a:endParaRPr sz="1250" b="1" i="0" u="none" strike="noStrike" cap="none">
              <a:solidFill>
                <a:srgbClr val="182933"/>
              </a:solidFill>
              <a:latin typeface="Outfit"/>
              <a:ea typeface="Outfit"/>
              <a:cs typeface="Outfit"/>
              <a:sym typeface="Outfit"/>
            </a:endParaRPr>
          </a:p>
        </p:txBody>
      </p:sp>
      <p:sp>
        <p:nvSpPr>
          <p:cNvPr id="225" name="Google Shape;225;g386762f2b93_0_0"/>
          <p:cNvSpPr txBox="1"/>
          <p:nvPr/>
        </p:nvSpPr>
        <p:spPr>
          <a:xfrm>
            <a:off x="932900" y="2042200"/>
            <a:ext cx="2780400" cy="29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2800">
                <a:solidFill>
                  <a:schemeClr val="dk1"/>
                </a:solidFill>
                <a:latin typeface="Outfit"/>
                <a:ea typeface="Outfit"/>
                <a:cs typeface="Outfit"/>
                <a:sym typeface="Outfit"/>
              </a:rPr>
              <a:t>{{alt_img_2}}</a:t>
            </a:r>
            <a:endParaRPr sz="2800">
              <a:solidFill>
                <a:schemeClr val="dk1"/>
              </a:solidFill>
              <a:latin typeface="Outfit"/>
              <a:ea typeface="Outfit"/>
              <a:cs typeface="Outfit"/>
              <a:sym typeface="Outfi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29"/>
        <p:cNvGrpSpPr/>
        <p:nvPr/>
      </p:nvGrpSpPr>
      <p:grpSpPr>
        <a:xfrm>
          <a:off x="0" y="0"/>
          <a:ext cx="0" cy="0"/>
          <a:chOff x="0" y="0"/>
          <a:chExt cx="0" cy="0"/>
        </a:xfrm>
      </p:grpSpPr>
      <p:sp>
        <p:nvSpPr>
          <p:cNvPr id="230" name="Google Shape;230;g386762f2b93_0_15"/>
          <p:cNvSpPr/>
          <p:nvPr/>
        </p:nvSpPr>
        <p:spPr>
          <a:xfrm>
            <a:off x="498513" y="1549735"/>
            <a:ext cx="9405000" cy="4782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31" name="Google Shape;231;g386762f2b93_0_15"/>
          <p:cNvSpPr/>
          <p:nvPr/>
        </p:nvSpPr>
        <p:spPr>
          <a:xfrm>
            <a:off x="10214497" y="-6794"/>
            <a:ext cx="1977600" cy="6864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32" name="Google Shape;232;g386762f2b93_0_15"/>
          <p:cNvSpPr txBox="1"/>
          <p:nvPr/>
        </p:nvSpPr>
        <p:spPr>
          <a:xfrm>
            <a:off x="720001" y="558417"/>
            <a:ext cx="2220900" cy="323100"/>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Existing alternatives</a:t>
            </a:r>
            <a:endParaRPr sz="1400" b="0" i="0" u="none" strike="noStrike" cap="none">
              <a:solidFill>
                <a:srgbClr val="000000"/>
              </a:solidFill>
              <a:latin typeface="Arial"/>
              <a:ea typeface="Arial"/>
              <a:cs typeface="Arial"/>
              <a:sym typeface="Arial"/>
            </a:endParaRPr>
          </a:p>
        </p:txBody>
      </p:sp>
      <p:sp>
        <p:nvSpPr>
          <p:cNvPr id="233" name="Google Shape;233;g386762f2b93_0_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11</a:t>
            </a:fld>
            <a:endParaRPr/>
          </a:p>
        </p:txBody>
      </p:sp>
      <p:sp>
        <p:nvSpPr>
          <p:cNvPr id="234" name="Google Shape;234;g386762f2b93_0_15"/>
          <p:cNvSpPr txBox="1"/>
          <p:nvPr/>
        </p:nvSpPr>
        <p:spPr>
          <a:xfrm>
            <a:off x="4216432" y="2962317"/>
            <a:ext cx="2943900" cy="113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HOW IT DOES THE JOB</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{{alt_doesjob3_1}}</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{{alt_doesjob3_2}}</a:t>
            </a:r>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{{alt_doesjob3_3}}</a:t>
            </a:r>
            <a:endParaRPr sz="1250" b="1" i="0" u="none" strike="noStrike" cap="none">
              <a:solidFill>
                <a:srgbClr val="182933"/>
              </a:solidFill>
              <a:latin typeface="Outfit"/>
              <a:ea typeface="Outfit"/>
              <a:cs typeface="Outfit"/>
              <a:sym typeface="Outfit"/>
            </a:endParaRPr>
          </a:p>
        </p:txBody>
      </p:sp>
      <p:sp>
        <p:nvSpPr>
          <p:cNvPr id="235" name="Google Shape;235;g386762f2b93_0_15"/>
          <p:cNvSpPr txBox="1"/>
          <p:nvPr/>
        </p:nvSpPr>
        <p:spPr>
          <a:xfrm>
            <a:off x="4216433" y="1792339"/>
            <a:ext cx="56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a:solidFill>
                  <a:srgbClr val="182933"/>
                </a:solidFill>
                <a:latin typeface="Outfit"/>
                <a:ea typeface="Outfit"/>
                <a:cs typeface="Outfit"/>
                <a:sym typeface="Outfit"/>
              </a:rPr>
              <a:t>{{alt_p</a:t>
            </a:r>
            <a:r>
              <a:rPr lang="en-GB" sz="2000" b="1" i="0" u="none" strike="noStrike" cap="none">
                <a:solidFill>
                  <a:srgbClr val="182933"/>
                </a:solidFill>
                <a:latin typeface="Outfit"/>
                <a:ea typeface="Outfit"/>
                <a:cs typeface="Outfit"/>
                <a:sym typeface="Outfit"/>
              </a:rPr>
              <a:t>roduct</a:t>
            </a:r>
            <a:r>
              <a:rPr lang="en-GB" sz="2000" b="1">
                <a:solidFill>
                  <a:srgbClr val="182933"/>
                </a:solidFill>
                <a:latin typeface="Outfit"/>
                <a:ea typeface="Outfit"/>
                <a:cs typeface="Outfit"/>
                <a:sym typeface="Outfit"/>
              </a:rPr>
              <a:t>_n</a:t>
            </a:r>
            <a:r>
              <a:rPr lang="en-GB" sz="2000" b="1" i="0" u="none" strike="noStrike" cap="none">
                <a:solidFill>
                  <a:srgbClr val="182933"/>
                </a:solidFill>
                <a:latin typeface="Outfit"/>
                <a:ea typeface="Outfit"/>
                <a:cs typeface="Outfit"/>
                <a:sym typeface="Outfit"/>
              </a:rPr>
              <a:t>ame_</a:t>
            </a:r>
            <a:r>
              <a:rPr lang="en-GB" sz="2000" b="1">
                <a:solidFill>
                  <a:srgbClr val="182933"/>
                </a:solidFill>
                <a:latin typeface="Outfit"/>
                <a:ea typeface="Outfit"/>
                <a:cs typeface="Outfit"/>
                <a:sym typeface="Outfit"/>
              </a:rPr>
              <a:t>3</a:t>
            </a:r>
            <a:r>
              <a:rPr lang="en-GB" sz="2000" b="1" i="0" u="none" strike="noStrike" cap="none">
                <a:solidFill>
                  <a:srgbClr val="182933"/>
                </a:solidFill>
                <a:latin typeface="Outfit"/>
                <a:ea typeface="Outfit"/>
                <a:cs typeface="Outfit"/>
                <a:sym typeface="Outfit"/>
              </a:rPr>
              <a:t>}}</a:t>
            </a:r>
            <a:endParaRPr sz="1400" b="0" i="0" u="none" strike="noStrike" cap="none">
              <a:solidFill>
                <a:srgbClr val="000000"/>
              </a:solidFill>
              <a:latin typeface="Arial"/>
              <a:ea typeface="Arial"/>
              <a:cs typeface="Arial"/>
              <a:sym typeface="Arial"/>
            </a:endParaRPr>
          </a:p>
        </p:txBody>
      </p:sp>
      <p:sp>
        <p:nvSpPr>
          <p:cNvPr id="236" name="Google Shape;236;g386762f2b93_0_15"/>
          <p:cNvSpPr txBox="1"/>
          <p:nvPr/>
        </p:nvSpPr>
        <p:spPr>
          <a:xfrm>
            <a:off x="4216433" y="2256404"/>
            <a:ext cx="23064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82933"/>
              </a:buClr>
              <a:buSzPts val="1000"/>
              <a:buFont typeface="Outfit"/>
              <a:buNone/>
            </a:pPr>
            <a:r>
              <a:rPr lang="en-GB" sz="1000" b="1" i="0" u="none" strike="noStrike" cap="none">
                <a:solidFill>
                  <a:srgbClr val="182933"/>
                </a:solidFill>
                <a:latin typeface="Outfit"/>
                <a:ea typeface="Outfit"/>
                <a:cs typeface="Outfit"/>
                <a:sym typeface="Outfit"/>
              </a:rPr>
              <a:t>BRAND</a:t>
            </a:r>
            <a:br>
              <a:rPr lang="en-GB" sz="1000" b="1" i="0" u="none" strike="noStrike" cap="none">
                <a:solidFill>
                  <a:srgbClr val="182933"/>
                </a:solidFill>
                <a:latin typeface="Outfit"/>
                <a:ea typeface="Outfit"/>
                <a:cs typeface="Outfit"/>
                <a:sym typeface="Outfit"/>
              </a:rPr>
            </a:br>
            <a:r>
              <a:rPr lang="en-GB" sz="1500" b="1">
                <a:solidFill>
                  <a:srgbClr val="182933"/>
                </a:solidFill>
                <a:latin typeface="Outfit"/>
                <a:ea typeface="Outfit"/>
                <a:cs typeface="Outfit"/>
                <a:sym typeface="Outfit"/>
              </a:rPr>
              <a:t>{{alt_</a:t>
            </a:r>
            <a:r>
              <a:rPr lang="en-GB" sz="1500" b="1" i="0" u="none" strike="noStrike" cap="none">
                <a:solidFill>
                  <a:srgbClr val="182933"/>
                </a:solidFill>
                <a:latin typeface="Outfit"/>
                <a:ea typeface="Outfit"/>
                <a:cs typeface="Outfit"/>
                <a:sym typeface="Outfit"/>
              </a:rPr>
              <a:t>brand_</a:t>
            </a:r>
            <a:r>
              <a:rPr lang="en-GB" sz="1500" b="1">
                <a:solidFill>
                  <a:srgbClr val="182933"/>
                </a:solidFill>
                <a:latin typeface="Outfit"/>
                <a:ea typeface="Outfit"/>
                <a:cs typeface="Outfit"/>
                <a:sym typeface="Outfit"/>
              </a:rPr>
              <a:t>3</a:t>
            </a:r>
            <a:r>
              <a:rPr lang="en-GB" sz="1500" b="1" i="0" u="none" strike="noStrike" cap="none">
                <a:solidFill>
                  <a:srgbClr val="182933"/>
                </a:solidFill>
                <a:latin typeface="Outfit"/>
                <a:ea typeface="Outfit"/>
                <a:cs typeface="Outfit"/>
                <a:sym typeface="Outfit"/>
              </a:rPr>
              <a:t>}}</a:t>
            </a:r>
            <a:endParaRPr sz="1400" b="0" i="0" u="none" strike="noStrike" cap="none">
              <a:solidFill>
                <a:srgbClr val="000000"/>
              </a:solidFill>
              <a:latin typeface="Arial"/>
              <a:ea typeface="Arial"/>
              <a:cs typeface="Arial"/>
              <a:sym typeface="Arial"/>
            </a:endParaRPr>
          </a:p>
        </p:txBody>
      </p:sp>
      <p:sp>
        <p:nvSpPr>
          <p:cNvPr id="237" name="Google Shape;237;g386762f2b93_0_15"/>
          <p:cNvSpPr txBox="1"/>
          <p:nvPr/>
        </p:nvSpPr>
        <p:spPr>
          <a:xfrm>
            <a:off x="1830455" y="5349999"/>
            <a:ext cx="1846200" cy="2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a:solidFill>
                  <a:srgbClr val="002060"/>
                </a:solidFill>
                <a:latin typeface="Outfit"/>
                <a:ea typeface="Outfit"/>
                <a:cs typeface="Outfit"/>
                <a:sym typeface="Outfit"/>
              </a:rPr>
              <a:t>{{alt_url_3}}</a:t>
            </a:r>
            <a:endParaRPr sz="1250" b="1" i="0" u="none" strike="noStrike" cap="none">
              <a:solidFill>
                <a:srgbClr val="002060"/>
              </a:solidFill>
              <a:latin typeface="Outfit"/>
              <a:ea typeface="Outfit"/>
              <a:cs typeface="Outfit"/>
              <a:sym typeface="Outfit"/>
            </a:endParaRPr>
          </a:p>
        </p:txBody>
      </p:sp>
      <p:sp>
        <p:nvSpPr>
          <p:cNvPr id="238" name="Google Shape;238;g386762f2b93_0_15"/>
          <p:cNvSpPr txBox="1"/>
          <p:nvPr/>
        </p:nvSpPr>
        <p:spPr>
          <a:xfrm>
            <a:off x="10214497" y="-6794"/>
            <a:ext cx="1910400" cy="1146000"/>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Add sidenote.</a:t>
            </a:r>
            <a:endParaRPr sz="1400" b="0" i="0" u="none" strike="noStrike" cap="none">
              <a:solidFill>
                <a:srgbClr val="000000"/>
              </a:solidFill>
              <a:latin typeface="Arial"/>
              <a:ea typeface="Arial"/>
              <a:cs typeface="Arial"/>
              <a:sym typeface="Arial"/>
            </a:endParaRPr>
          </a:p>
        </p:txBody>
      </p:sp>
      <p:sp>
        <p:nvSpPr>
          <p:cNvPr id="239" name="Google Shape;239;g386762f2b93_0_15"/>
          <p:cNvSpPr txBox="1"/>
          <p:nvPr/>
        </p:nvSpPr>
        <p:spPr>
          <a:xfrm>
            <a:off x="7160225" y="2256404"/>
            <a:ext cx="2743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dirty="0">
                <a:solidFill>
                  <a:srgbClr val="182933"/>
                </a:solidFill>
                <a:latin typeface="Outfit"/>
                <a:ea typeface="Outfit"/>
                <a:cs typeface="Outfit"/>
                <a:sym typeface="Outfit"/>
              </a:rPr>
              <a:t>PRICE</a:t>
            </a:r>
            <a:endParaRPr sz="1000" b="1" i="0" u="none" strike="noStrike" cap="none" dirty="0">
              <a:solidFill>
                <a:srgbClr val="182933"/>
              </a:solidFill>
              <a:latin typeface="Outfit"/>
              <a:ea typeface="Outfit"/>
              <a:cs typeface="Outfit"/>
              <a:sym typeface="Outfit"/>
            </a:endParaRPr>
          </a:p>
          <a:p>
            <a:pPr marL="0" marR="0" lvl="0" indent="0" algn="l" rtl="0">
              <a:lnSpc>
                <a:spcPct val="100000"/>
              </a:lnSpc>
              <a:spcBef>
                <a:spcPts val="0"/>
              </a:spcBef>
              <a:spcAft>
                <a:spcPts val="0"/>
              </a:spcAft>
              <a:buClr>
                <a:srgbClr val="000000"/>
              </a:buClr>
              <a:buSzPts val="1400"/>
              <a:buFont typeface="Arial"/>
              <a:buNone/>
            </a:pPr>
            <a:r>
              <a:rPr lang="en-GB" b="1" dirty="0">
                <a:solidFill>
                  <a:srgbClr val="182933"/>
                </a:solidFill>
                <a:latin typeface="Outfit"/>
                <a:ea typeface="Outfit"/>
                <a:cs typeface="Outfit"/>
                <a:sym typeface="Outfit"/>
              </a:rPr>
              <a:t>{{alt_price_3}}</a:t>
            </a:r>
            <a:endParaRPr sz="1400" b="0" i="0" u="none" strike="noStrike" cap="none" dirty="0">
              <a:solidFill>
                <a:srgbClr val="182933"/>
              </a:solidFill>
              <a:latin typeface="Outfit"/>
              <a:ea typeface="Outfit"/>
              <a:cs typeface="Outfit"/>
              <a:sym typeface="Outfit"/>
            </a:endParaRPr>
          </a:p>
        </p:txBody>
      </p:sp>
      <p:sp>
        <p:nvSpPr>
          <p:cNvPr id="240" name="Google Shape;240;g386762f2b93_0_15"/>
          <p:cNvSpPr txBox="1"/>
          <p:nvPr/>
        </p:nvSpPr>
        <p:spPr>
          <a:xfrm>
            <a:off x="7122904" y="2962317"/>
            <a:ext cx="2780400" cy="113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PROBLEMS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5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{{alt_prob3_</a:t>
            </a:r>
            <a:r>
              <a:rPr lang="en-GB" sz="1250" b="1" i="0" u="none" strike="noStrike" cap="none">
                <a:solidFill>
                  <a:srgbClr val="182933"/>
                </a:solidFill>
                <a:latin typeface="Outfit"/>
                <a:ea typeface="Outfit"/>
                <a:cs typeface="Outfit"/>
                <a:sym typeface="Outfit"/>
              </a:rPr>
              <a:t>1}}</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{{alt_prob3_2}}</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600"/>
              </a:spcBef>
              <a:spcAft>
                <a:spcPts val="0"/>
              </a:spcAft>
              <a:buClr>
                <a:srgbClr val="182933"/>
              </a:buClr>
              <a:buSzPts val="1250"/>
              <a:buFont typeface="Arial"/>
              <a:buChar char="•"/>
            </a:pPr>
            <a:r>
              <a:rPr lang="en-GB" sz="1250" b="1">
                <a:solidFill>
                  <a:srgbClr val="182933"/>
                </a:solidFill>
                <a:latin typeface="Outfit"/>
                <a:ea typeface="Outfit"/>
                <a:cs typeface="Outfit"/>
                <a:sym typeface="Outfit"/>
              </a:rPr>
              <a:t>{{alt_prob3_3}}</a:t>
            </a:r>
            <a:endParaRPr sz="1250" b="1" i="0" u="none" strike="noStrike" cap="none">
              <a:solidFill>
                <a:srgbClr val="182933"/>
              </a:solidFill>
              <a:latin typeface="Outfit"/>
              <a:ea typeface="Outfit"/>
              <a:cs typeface="Outfit"/>
              <a:sym typeface="Outfit"/>
            </a:endParaRPr>
          </a:p>
        </p:txBody>
      </p:sp>
      <p:sp>
        <p:nvSpPr>
          <p:cNvPr id="241" name="Google Shape;241;g386762f2b93_0_15"/>
          <p:cNvSpPr txBox="1"/>
          <p:nvPr/>
        </p:nvSpPr>
        <p:spPr>
          <a:xfrm>
            <a:off x="862350" y="1971625"/>
            <a:ext cx="2943900" cy="301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chemeClr val="dk1"/>
                </a:solidFill>
                <a:latin typeface="Outfit"/>
                <a:ea typeface="Outfit"/>
                <a:cs typeface="Outfit"/>
                <a:sym typeface="Outfit"/>
              </a:rPr>
              <a:t>{{alt_img_3}}</a:t>
            </a:r>
            <a:endParaRPr sz="2800">
              <a:solidFill>
                <a:schemeClr val="dk1"/>
              </a:solidFill>
              <a:latin typeface="Outfit"/>
              <a:ea typeface="Outfit"/>
              <a:cs typeface="Outfit"/>
              <a:sym typeface="Outfi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45"/>
        <p:cNvGrpSpPr/>
        <p:nvPr/>
      </p:nvGrpSpPr>
      <p:grpSpPr>
        <a:xfrm>
          <a:off x="0" y="0"/>
          <a:ext cx="0" cy="0"/>
          <a:chOff x="0" y="0"/>
          <a:chExt cx="0" cy="0"/>
        </a:xfrm>
      </p:grpSpPr>
      <p:sp>
        <p:nvSpPr>
          <p:cNvPr id="246" name="Google Shape;246;p12"/>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47" name="Google Shape;24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12</a:t>
            </a:fld>
            <a:endParaRPr/>
          </a:p>
        </p:txBody>
      </p:sp>
      <p:sp>
        <p:nvSpPr>
          <p:cNvPr id="248" name="Google Shape;248;p12"/>
          <p:cNvSpPr txBox="1"/>
          <p:nvPr/>
        </p:nvSpPr>
        <p:spPr>
          <a:xfrm>
            <a:off x="10214497" y="-6794"/>
            <a:ext cx="1910447" cy="1312493"/>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Problems have been considered.</a:t>
            </a:r>
            <a:endParaRPr sz="1400" b="0" i="0" u="none" strike="noStrike" cap="none">
              <a:solidFill>
                <a:srgbClr val="000000"/>
              </a:solidFill>
              <a:latin typeface="Arial"/>
              <a:ea typeface="Arial"/>
              <a:cs typeface="Arial"/>
              <a:sym typeface="Arial"/>
            </a:endParaRPr>
          </a:p>
        </p:txBody>
      </p:sp>
      <p:sp>
        <p:nvSpPr>
          <p:cNvPr id="249" name="Google Shape;249;p12"/>
          <p:cNvSpPr txBox="1"/>
          <p:nvPr/>
        </p:nvSpPr>
        <p:spPr>
          <a:xfrm>
            <a:off x="720000" y="558417"/>
            <a:ext cx="1133514" cy="323165"/>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Problems </a:t>
            </a:r>
            <a:endParaRPr sz="1400" b="0" i="0" u="none" strike="noStrike" cap="none">
              <a:solidFill>
                <a:srgbClr val="000000"/>
              </a:solidFill>
              <a:latin typeface="Arial"/>
              <a:ea typeface="Arial"/>
              <a:cs typeface="Arial"/>
              <a:sym typeface="Arial"/>
            </a:endParaRPr>
          </a:p>
        </p:txBody>
      </p:sp>
      <p:sp>
        <p:nvSpPr>
          <p:cNvPr id="250" name="Google Shape;250;p12"/>
          <p:cNvSpPr/>
          <p:nvPr/>
        </p:nvSpPr>
        <p:spPr>
          <a:xfrm rot="3600000" flipH="1">
            <a:off x="7573829" y="4405218"/>
            <a:ext cx="1423994" cy="1423994"/>
          </a:xfrm>
          <a:prstGeom prst="ellipse">
            <a:avLst/>
          </a:prstGeom>
          <a:solidFill>
            <a:srgbClr val="EF656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1" name="Google Shape;251;p12"/>
          <p:cNvSpPr/>
          <p:nvPr/>
        </p:nvSpPr>
        <p:spPr>
          <a:xfrm flipH="1">
            <a:off x="6451620" y="3172003"/>
            <a:ext cx="1857968" cy="1945211"/>
          </a:xfrm>
          <a:custGeom>
            <a:avLst/>
            <a:gdLst/>
            <a:ahLst/>
            <a:cxnLst/>
            <a:rect l="l" t="t" r="r" b="b"/>
            <a:pathLst>
              <a:path w="1000898" h="1000898" extrusionOk="0">
                <a:moveTo>
                  <a:pt x="0" y="0"/>
                </a:moveTo>
                <a:lnTo>
                  <a:pt x="1000898" y="0"/>
                </a:lnTo>
                <a:lnTo>
                  <a:pt x="0" y="1000898"/>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2" name="Google Shape;252;p12"/>
          <p:cNvSpPr/>
          <p:nvPr/>
        </p:nvSpPr>
        <p:spPr>
          <a:xfrm>
            <a:off x="896639" y="5117214"/>
            <a:ext cx="5076949" cy="1097413"/>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Problems explained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We look at the specific problems that we feel the existing alternatives identified don’t solve.</a:t>
            </a:r>
            <a:endParaRPr sz="1400" b="0" i="0" u="none" strike="noStrike" cap="none">
              <a:solidFill>
                <a:srgbClr val="000000"/>
              </a:solidFill>
              <a:latin typeface="Arial"/>
              <a:ea typeface="Arial"/>
              <a:cs typeface="Arial"/>
              <a:sym typeface="Arial"/>
            </a:endParaRPr>
          </a:p>
        </p:txBody>
      </p:sp>
      <p:pic>
        <p:nvPicPr>
          <p:cNvPr id="253" name="Google Shape;253;p12"/>
          <p:cNvPicPr preferRelativeResize="0"/>
          <p:nvPr/>
        </p:nvPicPr>
        <p:blipFill rotWithShape="1">
          <a:blip r:embed="rId3">
            <a:alphaModFix/>
          </a:blip>
          <a:srcRect/>
          <a:stretch/>
        </p:blipFill>
        <p:spPr>
          <a:xfrm>
            <a:off x="1025300" y="5302060"/>
            <a:ext cx="187332" cy="273083"/>
          </a:xfrm>
          <a:prstGeom prst="rect">
            <a:avLst/>
          </a:prstGeom>
          <a:noFill/>
          <a:ln>
            <a:noFill/>
          </a:ln>
        </p:spPr>
      </p:pic>
      <p:sp>
        <p:nvSpPr>
          <p:cNvPr id="254" name="Google Shape;254;p12"/>
          <p:cNvSpPr txBox="1"/>
          <p:nvPr/>
        </p:nvSpPr>
        <p:spPr>
          <a:xfrm>
            <a:off x="658123" y="2069521"/>
            <a:ext cx="9078300" cy="1423200"/>
          </a:xfrm>
          <a:prstGeom prst="rect">
            <a:avLst/>
          </a:prstGeom>
          <a:solidFill>
            <a:schemeClr val="lt1"/>
          </a:solidFill>
          <a:ln>
            <a:noFill/>
          </a:ln>
        </p:spPr>
        <p:txBody>
          <a:bodyPr spcFirstLastPara="1" wrap="square" lIns="360000" tIns="180000" rIns="360000" bIns="180000" anchor="t" anchorCtr="0">
            <a:spAutoFit/>
          </a:bodyPr>
          <a:lstStyle/>
          <a:p>
            <a:pPr marL="457200" marR="0" lvl="0" indent="-457200" algn="l" rtl="0">
              <a:lnSpc>
                <a:spcPct val="100000"/>
              </a:lnSpc>
              <a:spcBef>
                <a:spcPts val="0"/>
              </a:spcBef>
              <a:spcAft>
                <a:spcPts val="0"/>
              </a:spcAft>
              <a:buClr>
                <a:srgbClr val="182933"/>
              </a:buClr>
              <a:buSzPts val="1600"/>
              <a:buFont typeface="Arial"/>
              <a:buChar char="•"/>
            </a:pPr>
            <a:r>
              <a:rPr lang="en-GB" sz="1600" b="1">
                <a:solidFill>
                  <a:srgbClr val="182933"/>
                </a:solidFill>
                <a:latin typeface="Outfit"/>
                <a:ea typeface="Outfit"/>
                <a:cs typeface="Outfit"/>
                <a:sym typeface="Outfit"/>
              </a:rPr>
              <a:t>{{p</a:t>
            </a:r>
            <a:r>
              <a:rPr lang="en-GB" sz="1600" b="1" i="0" u="none" strike="noStrike" cap="none">
                <a:solidFill>
                  <a:srgbClr val="182933"/>
                </a:solidFill>
                <a:latin typeface="Outfit"/>
                <a:ea typeface="Outfit"/>
                <a:cs typeface="Outfit"/>
                <a:sym typeface="Outfit"/>
              </a:rPr>
              <a:t>rob</a:t>
            </a:r>
            <a:r>
              <a:rPr lang="en-GB" sz="1600" b="1">
                <a:solidFill>
                  <a:srgbClr val="182933"/>
                </a:solidFill>
                <a:latin typeface="Outfit"/>
                <a:ea typeface="Outfit"/>
                <a:cs typeface="Outfit"/>
                <a:sym typeface="Outfit"/>
              </a:rPr>
              <a:t>_summary_1}}</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50"/>
              </a:spcBef>
              <a:spcAft>
                <a:spcPts val="0"/>
              </a:spcAft>
              <a:buClr>
                <a:srgbClr val="182933"/>
              </a:buClr>
              <a:buSzPts val="1600"/>
              <a:buFont typeface="Arial"/>
              <a:buChar char="•"/>
            </a:pPr>
            <a:r>
              <a:rPr lang="en-GB" sz="1600" b="1">
                <a:solidFill>
                  <a:srgbClr val="182933"/>
                </a:solidFill>
                <a:latin typeface="Outfit"/>
                <a:ea typeface="Outfit"/>
                <a:cs typeface="Outfit"/>
                <a:sym typeface="Outfit"/>
              </a:rPr>
              <a:t>{{prob_summary_2}}</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250"/>
              </a:spcBef>
              <a:spcAft>
                <a:spcPts val="0"/>
              </a:spcAft>
              <a:buClr>
                <a:srgbClr val="182933"/>
              </a:buClr>
              <a:buSzPts val="1600"/>
              <a:buFont typeface="Arial"/>
              <a:buChar char="•"/>
            </a:pPr>
            <a:r>
              <a:rPr lang="en-GB" sz="1600" b="1">
                <a:solidFill>
                  <a:srgbClr val="182933"/>
                </a:solidFill>
                <a:latin typeface="Outfit"/>
                <a:ea typeface="Outfit"/>
                <a:cs typeface="Outfit"/>
                <a:sym typeface="Outfit"/>
              </a:rPr>
              <a:t>{{p</a:t>
            </a:r>
            <a:r>
              <a:rPr lang="en-GB" sz="1600" b="1" i="0" u="none" strike="noStrike" cap="none">
                <a:solidFill>
                  <a:srgbClr val="182933"/>
                </a:solidFill>
                <a:latin typeface="Outfit"/>
                <a:ea typeface="Outfit"/>
                <a:cs typeface="Outfit"/>
                <a:sym typeface="Outfit"/>
              </a:rPr>
              <a:t>rob</a:t>
            </a:r>
            <a:r>
              <a:rPr lang="en-GB" sz="1600" b="1">
                <a:solidFill>
                  <a:srgbClr val="182933"/>
                </a:solidFill>
                <a:latin typeface="Outfit"/>
                <a:ea typeface="Outfit"/>
                <a:cs typeface="Outfit"/>
                <a:sym typeface="Outfit"/>
              </a:rPr>
              <a:t>_summary_3}}</a:t>
            </a:r>
            <a:endParaRPr sz="1600" b="0" i="0" u="none" strike="noStrike" cap="none">
              <a:solidFill>
                <a:srgbClr val="182933"/>
              </a:solidFill>
              <a:latin typeface="Outfit"/>
              <a:ea typeface="Outfit"/>
              <a:cs typeface="Outfit"/>
              <a:sym typeface="Outfi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58"/>
        <p:cNvGrpSpPr/>
        <p:nvPr/>
      </p:nvGrpSpPr>
      <p:grpSpPr>
        <a:xfrm>
          <a:off x="0" y="0"/>
          <a:ext cx="0" cy="0"/>
          <a:chOff x="0" y="0"/>
          <a:chExt cx="0" cy="0"/>
        </a:xfrm>
      </p:grpSpPr>
      <p:sp>
        <p:nvSpPr>
          <p:cNvPr id="259" name="Google Shape;259;p13"/>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60" name="Google Shape;26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13</a:t>
            </a:fld>
            <a:endParaRPr/>
          </a:p>
        </p:txBody>
      </p:sp>
      <p:sp>
        <p:nvSpPr>
          <p:cNvPr id="261" name="Google Shape;261;p13"/>
          <p:cNvSpPr txBox="1"/>
          <p:nvPr/>
        </p:nvSpPr>
        <p:spPr>
          <a:xfrm>
            <a:off x="10214497" y="-6794"/>
            <a:ext cx="1910447" cy="1312493"/>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 UVP has been considered.</a:t>
            </a:r>
            <a:endParaRPr sz="1000" b="1" i="0" u="none" strike="noStrike" cap="none">
              <a:solidFill>
                <a:srgbClr val="182933"/>
              </a:solidFill>
              <a:latin typeface="Outfit"/>
              <a:ea typeface="Outfit"/>
              <a:cs typeface="Outfit"/>
              <a:sym typeface="Outfit"/>
            </a:endParaRPr>
          </a:p>
        </p:txBody>
      </p:sp>
      <p:sp>
        <p:nvSpPr>
          <p:cNvPr id="262" name="Google Shape;262;p13"/>
          <p:cNvSpPr txBox="1"/>
          <p:nvPr/>
        </p:nvSpPr>
        <p:spPr>
          <a:xfrm>
            <a:off x="720001" y="2078976"/>
            <a:ext cx="8963700" cy="7329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GB" sz="2400" b="1">
                <a:solidFill>
                  <a:srgbClr val="182933"/>
                </a:solidFill>
                <a:latin typeface="Outfit"/>
                <a:ea typeface="Outfit"/>
                <a:cs typeface="Outfit"/>
                <a:sym typeface="Outfit"/>
              </a:rPr>
              <a:t>{{uvp}}</a:t>
            </a:r>
            <a:endParaRPr sz="1400" b="0" i="0" u="none" strike="noStrike" cap="none">
              <a:solidFill>
                <a:srgbClr val="000000"/>
              </a:solidFill>
              <a:latin typeface="Arial"/>
              <a:ea typeface="Arial"/>
              <a:cs typeface="Arial"/>
              <a:sym typeface="Arial"/>
            </a:endParaRPr>
          </a:p>
        </p:txBody>
      </p:sp>
      <p:sp>
        <p:nvSpPr>
          <p:cNvPr id="263" name="Google Shape;263;p13"/>
          <p:cNvSpPr txBox="1"/>
          <p:nvPr/>
        </p:nvSpPr>
        <p:spPr>
          <a:xfrm>
            <a:off x="720001" y="558417"/>
            <a:ext cx="2560718" cy="323165"/>
          </a:xfrm>
          <a:prstGeom prst="rect">
            <a:avLst/>
          </a:prstGeom>
          <a:solidFill>
            <a:srgbClr val="EF656D"/>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Unique value proposition</a:t>
            </a:r>
            <a:endParaRPr sz="1400" b="0" i="0" u="none" strike="noStrike" cap="none">
              <a:solidFill>
                <a:srgbClr val="000000"/>
              </a:solidFill>
              <a:latin typeface="Arial"/>
              <a:ea typeface="Arial"/>
              <a:cs typeface="Arial"/>
              <a:sym typeface="Arial"/>
            </a:endParaRPr>
          </a:p>
        </p:txBody>
      </p:sp>
      <p:sp>
        <p:nvSpPr>
          <p:cNvPr id="264" name="Google Shape;264;p13"/>
          <p:cNvSpPr/>
          <p:nvPr/>
        </p:nvSpPr>
        <p:spPr>
          <a:xfrm>
            <a:off x="896639" y="5117214"/>
            <a:ext cx="7346921" cy="1267673"/>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Unique Value Proposition (UVP)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UVP describes the features your product could include to solve problems better than the existing alternatives. Your UVPs could be used to promote brand awareness, maintain customer relationships, and increase sales.</a:t>
            </a:r>
            <a:endParaRPr sz="1400" b="0" i="0" u="none" strike="noStrike" cap="none">
              <a:solidFill>
                <a:srgbClr val="000000"/>
              </a:solidFill>
              <a:latin typeface="Arial"/>
              <a:ea typeface="Arial"/>
              <a:cs typeface="Arial"/>
              <a:sym typeface="Arial"/>
            </a:endParaRPr>
          </a:p>
        </p:txBody>
      </p:sp>
      <p:pic>
        <p:nvPicPr>
          <p:cNvPr id="265" name="Google Shape;265;p13"/>
          <p:cNvPicPr preferRelativeResize="0"/>
          <p:nvPr/>
        </p:nvPicPr>
        <p:blipFill rotWithShape="1">
          <a:blip r:embed="rId3">
            <a:alphaModFix/>
          </a:blip>
          <a:srcRect/>
          <a:stretch/>
        </p:blipFill>
        <p:spPr>
          <a:xfrm>
            <a:off x="1025300" y="5302060"/>
            <a:ext cx="187332" cy="2730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4"/>
          <p:cNvSpPr/>
          <p:nvPr/>
        </p:nvSpPr>
        <p:spPr>
          <a:xfrm>
            <a:off x="0" y="3445"/>
            <a:ext cx="12192000" cy="6854555"/>
          </a:xfrm>
          <a:prstGeom prst="rect">
            <a:avLst/>
          </a:prstGeom>
          <a:solidFill>
            <a:srgbClr val="F7C4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71" name="Google Shape;2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14</a:t>
            </a:fld>
            <a:endParaRPr/>
          </a:p>
        </p:txBody>
      </p:sp>
      <p:sp>
        <p:nvSpPr>
          <p:cNvPr id="272" name="Google Shape;272;p14"/>
          <p:cNvSpPr txBox="1"/>
          <p:nvPr/>
        </p:nvSpPr>
        <p:spPr>
          <a:xfrm>
            <a:off x="3915984" y="-4639216"/>
            <a:ext cx="5796744" cy="1548116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00"/>
              <a:buFont typeface="Arial"/>
              <a:buNone/>
            </a:pPr>
            <a:r>
              <a:rPr lang="en-GB" sz="100000" b="1" i="0" u="none" strike="noStrike" cap="none">
                <a:solidFill>
                  <a:srgbClr val="182933"/>
                </a:solidFill>
                <a:latin typeface="Outfit"/>
                <a:ea typeface="Outfit"/>
                <a:cs typeface="Outfit"/>
                <a:sym typeface="Outfit"/>
              </a:rPr>
              <a:t>£</a:t>
            </a:r>
            <a:endParaRPr sz="100000" b="1" i="0" u="none" strike="noStrike" cap="none">
              <a:solidFill>
                <a:srgbClr val="182933"/>
              </a:solidFill>
              <a:latin typeface="Outfit"/>
              <a:ea typeface="Outfit"/>
              <a:cs typeface="Outfit"/>
              <a:sym typeface="Outfit"/>
            </a:endParaRPr>
          </a:p>
        </p:txBody>
      </p:sp>
      <p:grpSp>
        <p:nvGrpSpPr>
          <p:cNvPr id="273" name="Google Shape;273;p14"/>
          <p:cNvGrpSpPr/>
          <p:nvPr/>
        </p:nvGrpSpPr>
        <p:grpSpPr>
          <a:xfrm>
            <a:off x="3197628" y="2576556"/>
            <a:ext cx="5796744" cy="1713179"/>
            <a:chOff x="3197628" y="2842763"/>
            <a:chExt cx="5796744" cy="1713179"/>
          </a:xfrm>
        </p:grpSpPr>
        <p:sp>
          <p:nvSpPr>
            <p:cNvPr id="274" name="Google Shape;274;p14"/>
            <p:cNvSpPr txBox="1"/>
            <p:nvPr/>
          </p:nvSpPr>
          <p:spPr>
            <a:xfrm>
              <a:off x="3197628" y="2842763"/>
              <a:ext cx="5796744"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GB" sz="5000" b="1" i="0" u="none" strike="noStrike" cap="none">
                  <a:solidFill>
                    <a:schemeClr val="lt1"/>
                  </a:solidFill>
                  <a:latin typeface="Outfit"/>
                  <a:ea typeface="Outfit"/>
                  <a:cs typeface="Outfit"/>
                  <a:sym typeface="Outfit"/>
                </a:rPr>
                <a:t>Viability</a:t>
              </a:r>
              <a:endParaRPr sz="5000" b="1" i="0" u="none" strike="noStrike" cap="none">
                <a:solidFill>
                  <a:schemeClr val="lt1"/>
                </a:solidFill>
                <a:latin typeface="Outfit"/>
                <a:ea typeface="Outfit"/>
                <a:cs typeface="Outfit"/>
                <a:sym typeface="Outfit"/>
              </a:endParaRPr>
            </a:p>
          </p:txBody>
        </p:sp>
        <p:sp>
          <p:nvSpPr>
            <p:cNvPr id="275" name="Google Shape;275;p14"/>
            <p:cNvSpPr txBox="1"/>
            <p:nvPr/>
          </p:nvSpPr>
          <p:spPr>
            <a:xfrm>
              <a:off x="3707745" y="4032722"/>
              <a:ext cx="47765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chemeClr val="lt1"/>
                  </a:solidFill>
                  <a:latin typeface="Outfit"/>
                  <a:ea typeface="Outfit"/>
                  <a:cs typeface="Outfit"/>
                  <a:sym typeface="Outfit"/>
                </a:rPr>
                <a:t>Can you create a viable business from your innovation?</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9"/>
        <p:cNvGrpSpPr/>
        <p:nvPr/>
      </p:nvGrpSpPr>
      <p:grpSpPr>
        <a:xfrm>
          <a:off x="0" y="0"/>
          <a:ext cx="0" cy="0"/>
          <a:chOff x="0" y="0"/>
          <a:chExt cx="0" cy="0"/>
        </a:xfrm>
      </p:grpSpPr>
      <p:sp>
        <p:nvSpPr>
          <p:cNvPr id="280" name="Google Shape;280;p15"/>
          <p:cNvSpPr txBox="1"/>
          <p:nvPr/>
        </p:nvSpPr>
        <p:spPr>
          <a:xfrm>
            <a:off x="720000" y="558416"/>
            <a:ext cx="2603968" cy="323165"/>
          </a:xfrm>
          <a:prstGeom prst="rect">
            <a:avLst/>
          </a:prstGeom>
          <a:solidFill>
            <a:srgbClr val="F7C47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Minimum success criteria</a:t>
            </a:r>
            <a:endParaRPr sz="1400" b="0" i="0" u="none" strike="noStrike" cap="none">
              <a:solidFill>
                <a:srgbClr val="000000"/>
              </a:solidFill>
              <a:latin typeface="Arial"/>
              <a:ea typeface="Arial"/>
              <a:cs typeface="Arial"/>
              <a:sym typeface="Arial"/>
            </a:endParaRPr>
          </a:p>
        </p:txBody>
      </p:sp>
      <p:sp>
        <p:nvSpPr>
          <p:cNvPr id="281" name="Google Shape;281;p15"/>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82" name="Google Shape;282;p15"/>
          <p:cNvSpPr txBox="1"/>
          <p:nvPr/>
        </p:nvSpPr>
        <p:spPr>
          <a:xfrm>
            <a:off x="10214497" y="-6794"/>
            <a:ext cx="1910447" cy="2556424"/>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Minimum Success Criteria has been reviewed.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This is an opportunity for you to review whether the MSC listed here is a suitable goal for your product business.</a:t>
            </a:r>
            <a:endParaRPr sz="1400" b="0" i="0" u="none" strike="noStrike" cap="none">
              <a:solidFill>
                <a:srgbClr val="000000"/>
              </a:solidFill>
              <a:latin typeface="Arial"/>
              <a:ea typeface="Arial"/>
              <a:cs typeface="Arial"/>
              <a:sym typeface="Arial"/>
            </a:endParaRPr>
          </a:p>
        </p:txBody>
      </p:sp>
      <p:sp>
        <p:nvSpPr>
          <p:cNvPr id="283" name="Google Shape;2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15</a:t>
            </a:fld>
            <a:endParaRPr/>
          </a:p>
        </p:txBody>
      </p:sp>
      <p:sp>
        <p:nvSpPr>
          <p:cNvPr id="284" name="Google Shape;284;p15"/>
          <p:cNvSpPr txBox="1"/>
          <p:nvPr/>
        </p:nvSpPr>
        <p:spPr>
          <a:xfrm>
            <a:off x="720000" y="2083271"/>
            <a:ext cx="8973565" cy="162027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Minimum Success Criteria: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3500"/>
              <a:buFont typeface="Arial"/>
              <a:buNone/>
            </a:pPr>
            <a:r>
              <a:rPr lang="en-GB" sz="3500" b="1" i="0" u="none" strike="noStrike" cap="none">
                <a:solidFill>
                  <a:srgbClr val="182933"/>
                </a:solidFill>
                <a:latin typeface="Outfit"/>
                <a:ea typeface="Outfit"/>
                <a:cs typeface="Outfit"/>
                <a:sym typeface="Outfit"/>
              </a:rPr>
              <a:t>£1,000,000 ARR.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This is based on a net profit of £100,000 and profitability of 10%</a:t>
            </a:r>
            <a:endParaRPr sz="1400" b="0" i="0" u="none" strike="noStrike" cap="none">
              <a:solidFill>
                <a:srgbClr val="000000"/>
              </a:solidFill>
              <a:latin typeface="Arial"/>
              <a:ea typeface="Arial"/>
              <a:cs typeface="Arial"/>
              <a:sym typeface="Arial"/>
            </a:endParaRPr>
          </a:p>
        </p:txBody>
      </p:sp>
      <p:sp>
        <p:nvSpPr>
          <p:cNvPr id="285" name="Google Shape;285;p15"/>
          <p:cNvSpPr/>
          <p:nvPr/>
        </p:nvSpPr>
        <p:spPr>
          <a:xfrm>
            <a:off x="720000" y="4918418"/>
            <a:ext cx="6950824" cy="1267673"/>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Minimum Success Criteria (MSC) explained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What is your financial goal? Your MSC is the minimum Annual Recurring Revenue (ARR) you could earn in year 3 of trading which you feel would make the business worthwhile. You can adjust this figure to suit your needs. </a:t>
            </a:r>
            <a:endParaRPr sz="1400" b="0" i="0" u="none" strike="noStrike" cap="none">
              <a:solidFill>
                <a:srgbClr val="000000"/>
              </a:solidFill>
              <a:latin typeface="Arial"/>
              <a:ea typeface="Arial"/>
              <a:cs typeface="Arial"/>
              <a:sym typeface="Arial"/>
            </a:endParaRPr>
          </a:p>
        </p:txBody>
      </p:sp>
      <p:pic>
        <p:nvPicPr>
          <p:cNvPr id="286" name="Google Shape;286;p15"/>
          <p:cNvPicPr preferRelativeResize="0"/>
          <p:nvPr/>
        </p:nvPicPr>
        <p:blipFill rotWithShape="1">
          <a:blip r:embed="rId3">
            <a:alphaModFix/>
          </a:blip>
          <a:srcRect/>
          <a:stretch/>
        </p:blipFill>
        <p:spPr>
          <a:xfrm>
            <a:off x="848661" y="5103264"/>
            <a:ext cx="187332" cy="27308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90"/>
        <p:cNvGrpSpPr/>
        <p:nvPr/>
      </p:nvGrpSpPr>
      <p:grpSpPr>
        <a:xfrm>
          <a:off x="0" y="0"/>
          <a:ext cx="0" cy="0"/>
          <a:chOff x="0" y="0"/>
          <a:chExt cx="0" cy="0"/>
        </a:xfrm>
      </p:grpSpPr>
      <p:sp>
        <p:nvSpPr>
          <p:cNvPr id="291" name="Google Shape;291;p16"/>
          <p:cNvSpPr txBox="1"/>
          <p:nvPr/>
        </p:nvSpPr>
        <p:spPr>
          <a:xfrm>
            <a:off x="720000" y="558416"/>
            <a:ext cx="1343578" cy="323165"/>
          </a:xfrm>
          <a:prstGeom prst="rect">
            <a:avLst/>
          </a:prstGeom>
          <a:solidFill>
            <a:srgbClr val="F7C47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Market size</a:t>
            </a:r>
            <a:endParaRPr sz="1400" b="0" i="0" u="none" strike="noStrike" cap="none">
              <a:solidFill>
                <a:srgbClr val="000000"/>
              </a:solidFill>
              <a:latin typeface="Arial"/>
              <a:ea typeface="Arial"/>
              <a:cs typeface="Arial"/>
              <a:sym typeface="Arial"/>
            </a:endParaRPr>
          </a:p>
        </p:txBody>
      </p:sp>
      <p:sp>
        <p:nvSpPr>
          <p:cNvPr id="292" name="Google Shape;292;p16"/>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293" name="Google Shape;293;p16"/>
          <p:cNvSpPr txBox="1"/>
          <p:nvPr/>
        </p:nvSpPr>
        <p:spPr>
          <a:xfrm>
            <a:off x="10214497" y="-6794"/>
            <a:ext cx="1910447" cy="1466382"/>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Total Addressable Market has been considered.</a:t>
            </a:r>
            <a:endParaRPr sz="1400" b="0" i="0" u="none" strike="noStrike" cap="none">
              <a:solidFill>
                <a:srgbClr val="000000"/>
              </a:solidFill>
              <a:latin typeface="Arial"/>
              <a:ea typeface="Arial"/>
              <a:cs typeface="Arial"/>
              <a:sym typeface="Arial"/>
            </a:endParaRPr>
          </a:p>
        </p:txBody>
      </p:sp>
      <p:sp>
        <p:nvSpPr>
          <p:cNvPr id="294" name="Google Shape;29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16</a:t>
            </a:fld>
            <a:endParaRPr/>
          </a:p>
        </p:txBody>
      </p:sp>
      <p:sp>
        <p:nvSpPr>
          <p:cNvPr id="295" name="Google Shape;295;p16"/>
          <p:cNvSpPr txBox="1"/>
          <p:nvPr/>
        </p:nvSpPr>
        <p:spPr>
          <a:xfrm>
            <a:off x="720000" y="1726356"/>
            <a:ext cx="8853300" cy="10857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GB" sz="2400" b="1">
                <a:solidFill>
                  <a:srgbClr val="182933"/>
                </a:solidFill>
                <a:latin typeface="Outfit"/>
                <a:ea typeface="Outfit"/>
                <a:cs typeface="Outfit"/>
                <a:sym typeface="Outfit"/>
              </a:rPr>
              <a:t>{{mkt_data}}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1250"/>
              <a:buFont typeface="Arial"/>
              <a:buNone/>
            </a:pPr>
            <a:r>
              <a:rPr lang="en-GB" sz="1250" b="1">
                <a:solidFill>
                  <a:srgbClr val="182933"/>
                </a:solidFill>
                <a:latin typeface="Outfit"/>
                <a:ea typeface="Outfit"/>
                <a:cs typeface="Outfit"/>
                <a:sym typeface="Outfit"/>
              </a:rPr>
              <a:t>{{mkt_source_url}}</a:t>
            </a:r>
            <a:endParaRPr sz="1250" b="1" i="0" u="none" strike="noStrike" cap="none">
              <a:solidFill>
                <a:srgbClr val="182933"/>
              </a:solidFill>
              <a:latin typeface="Outfit"/>
              <a:ea typeface="Outfit"/>
              <a:cs typeface="Outfit"/>
              <a:sym typeface="Outfit"/>
            </a:endParaRPr>
          </a:p>
        </p:txBody>
      </p:sp>
      <p:sp>
        <p:nvSpPr>
          <p:cNvPr id="296" name="Google Shape;296;p16"/>
          <p:cNvSpPr/>
          <p:nvPr/>
        </p:nvSpPr>
        <p:spPr>
          <a:xfrm>
            <a:off x="720000" y="4918418"/>
            <a:ext cx="6110704" cy="1267673"/>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Market size explained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We identify a potential Total Addressable Market (TAM) for your product to help assess whether there may be enough customers to meet the MSC of your product locally or globally.</a:t>
            </a:r>
            <a:endParaRPr sz="1400" b="0" i="0" u="none" strike="noStrike" cap="none">
              <a:solidFill>
                <a:srgbClr val="000000"/>
              </a:solidFill>
              <a:latin typeface="Arial"/>
              <a:ea typeface="Arial"/>
              <a:cs typeface="Arial"/>
              <a:sym typeface="Arial"/>
            </a:endParaRPr>
          </a:p>
        </p:txBody>
      </p:sp>
      <p:pic>
        <p:nvPicPr>
          <p:cNvPr id="297" name="Google Shape;297;p16"/>
          <p:cNvPicPr preferRelativeResize="0"/>
          <p:nvPr/>
        </p:nvPicPr>
        <p:blipFill rotWithShape="1">
          <a:blip r:embed="rId3">
            <a:alphaModFix/>
          </a:blip>
          <a:srcRect/>
          <a:stretch/>
        </p:blipFill>
        <p:spPr>
          <a:xfrm>
            <a:off x="848661" y="5103264"/>
            <a:ext cx="187332" cy="27308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01"/>
        <p:cNvGrpSpPr/>
        <p:nvPr/>
      </p:nvGrpSpPr>
      <p:grpSpPr>
        <a:xfrm>
          <a:off x="0" y="0"/>
          <a:ext cx="0" cy="0"/>
          <a:chOff x="0" y="0"/>
          <a:chExt cx="0" cy="0"/>
        </a:xfrm>
      </p:grpSpPr>
      <p:sp>
        <p:nvSpPr>
          <p:cNvPr id="302" name="Google Shape;302;p17"/>
          <p:cNvSpPr txBox="1"/>
          <p:nvPr/>
        </p:nvSpPr>
        <p:spPr>
          <a:xfrm>
            <a:off x="719998" y="558416"/>
            <a:ext cx="3011743" cy="323165"/>
          </a:xfrm>
          <a:prstGeom prst="rect">
            <a:avLst/>
          </a:prstGeom>
          <a:solidFill>
            <a:srgbClr val="F7C47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Target revenue per customer</a:t>
            </a:r>
            <a:endParaRPr sz="1400" b="0" i="0" u="none" strike="noStrike" cap="none">
              <a:solidFill>
                <a:srgbClr val="000000"/>
              </a:solidFill>
              <a:latin typeface="Arial"/>
              <a:ea typeface="Arial"/>
              <a:cs typeface="Arial"/>
              <a:sym typeface="Arial"/>
            </a:endParaRPr>
          </a:p>
        </p:txBody>
      </p:sp>
      <p:sp>
        <p:nvSpPr>
          <p:cNvPr id="303" name="Google Shape;303;p17"/>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304" name="Google Shape;304;p17"/>
          <p:cNvSpPr txBox="1"/>
          <p:nvPr/>
        </p:nvSpPr>
        <p:spPr>
          <a:xfrm>
            <a:off x="10214497" y="-6794"/>
            <a:ext cx="1910400" cy="2236200"/>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Target revenue per customer has been established.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Examples of add-on value could include:</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1250"/>
              </a:spcBef>
              <a:spcAft>
                <a:spcPts val="0"/>
              </a:spcAft>
              <a:buClr>
                <a:srgbClr val="182933"/>
              </a:buClr>
              <a:buSzPts val="1000"/>
              <a:buFont typeface="Arial"/>
              <a:buChar char="•"/>
            </a:pPr>
            <a:r>
              <a:rPr lang="en-GB" sz="1000">
                <a:solidFill>
                  <a:srgbClr val="182933"/>
                </a:solidFill>
                <a:latin typeface="Outfit"/>
                <a:ea typeface="Outfit"/>
                <a:cs typeface="Outfit"/>
                <a:sym typeface="Outfit"/>
              </a:rPr>
              <a:t>{{ex_av_item}}</a:t>
            </a:r>
            <a:endParaRPr sz="1400" b="0" i="0" u="none" strike="noStrike" cap="none">
              <a:solidFill>
                <a:srgbClr val="000000"/>
              </a:solidFill>
              <a:latin typeface="Arial"/>
              <a:ea typeface="Arial"/>
              <a:cs typeface="Arial"/>
              <a:sym typeface="Arial"/>
            </a:endParaRPr>
          </a:p>
        </p:txBody>
      </p:sp>
      <p:sp>
        <p:nvSpPr>
          <p:cNvPr id="305" name="Google Shape;30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17</a:t>
            </a:fld>
            <a:endParaRPr/>
          </a:p>
        </p:txBody>
      </p:sp>
      <p:sp>
        <p:nvSpPr>
          <p:cNvPr id="306" name="Google Shape;306;p17"/>
          <p:cNvSpPr txBox="1"/>
          <p:nvPr/>
        </p:nvSpPr>
        <p:spPr>
          <a:xfrm>
            <a:off x="1215299" y="1178239"/>
            <a:ext cx="3556200" cy="12936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Example recommended retail price (RRP) for your main product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2500"/>
              <a:buFont typeface="Arial"/>
              <a:buNone/>
            </a:pPr>
            <a:r>
              <a:rPr lang="en-GB" sz="2500" b="1">
                <a:solidFill>
                  <a:schemeClr val="dk1"/>
                </a:solidFill>
                <a:latin typeface="Outfit"/>
                <a:ea typeface="Outfit"/>
                <a:cs typeface="Outfit"/>
                <a:sym typeface="Outfit"/>
              </a:rPr>
              <a:t>{{ex_rrp}}</a:t>
            </a:r>
            <a:endParaRPr sz="1400" b="0" i="0" u="none" strike="noStrike" cap="none">
              <a:solidFill>
                <a:srgbClr val="000000"/>
              </a:solidFill>
              <a:latin typeface="Arial"/>
              <a:ea typeface="Arial"/>
              <a:cs typeface="Arial"/>
              <a:sym typeface="Arial"/>
            </a:endParaRPr>
          </a:p>
        </p:txBody>
      </p:sp>
      <p:sp>
        <p:nvSpPr>
          <p:cNvPr id="307" name="Google Shape;307;p17"/>
          <p:cNvSpPr txBox="1"/>
          <p:nvPr/>
        </p:nvSpPr>
        <p:spPr>
          <a:xfrm>
            <a:off x="1" y="6415801"/>
            <a:ext cx="10214496"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b="1" i="0" u="none" strike="noStrike" cap="none">
                <a:solidFill>
                  <a:srgbClr val="A5A5A5"/>
                </a:solidFill>
                <a:latin typeface="Outfit"/>
                <a:ea typeface="Outfit"/>
                <a:cs typeface="Outfit"/>
                <a:sym typeface="Outfit"/>
              </a:rPr>
              <a:t>These numbers are for example. You can adjust this value in your spreadsheet.</a:t>
            </a:r>
            <a:endParaRPr sz="1400" b="0" i="0" u="none" strike="noStrike" cap="none">
              <a:solidFill>
                <a:srgbClr val="000000"/>
              </a:solidFill>
              <a:latin typeface="Arial"/>
              <a:ea typeface="Arial"/>
              <a:cs typeface="Arial"/>
              <a:sym typeface="Arial"/>
            </a:endParaRPr>
          </a:p>
        </p:txBody>
      </p:sp>
      <p:sp>
        <p:nvSpPr>
          <p:cNvPr id="308" name="Google Shape;308;p17"/>
          <p:cNvSpPr txBox="1"/>
          <p:nvPr/>
        </p:nvSpPr>
        <p:spPr>
          <a:xfrm>
            <a:off x="1215298" y="4766267"/>
            <a:ext cx="3556200" cy="12552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Example Target Revenue per Customer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3500"/>
              <a:buFont typeface="Arial"/>
              <a:buNone/>
            </a:pPr>
            <a:r>
              <a:rPr lang="en-GB" sz="3500" b="1" i="0" u="none" strike="noStrike" cap="none">
                <a:solidFill>
                  <a:srgbClr val="182933"/>
                </a:solidFill>
                <a:latin typeface="Outfit"/>
                <a:ea typeface="Outfit"/>
                <a:cs typeface="Outfit"/>
                <a:sym typeface="Outfit"/>
              </a:rPr>
              <a:t>{{ex_t</a:t>
            </a:r>
            <a:r>
              <a:rPr lang="en-GB" sz="3500" b="1">
                <a:solidFill>
                  <a:srgbClr val="182933"/>
                </a:solidFill>
                <a:latin typeface="Outfit"/>
                <a:ea typeface="Outfit"/>
                <a:cs typeface="Outfit"/>
                <a:sym typeface="Outfit"/>
              </a:rPr>
              <a:t>gt_rev}}</a:t>
            </a:r>
            <a:endParaRPr sz="1400" b="0" i="0" u="none" strike="noStrike" cap="none">
              <a:solidFill>
                <a:srgbClr val="000000"/>
              </a:solidFill>
              <a:latin typeface="Arial"/>
              <a:ea typeface="Arial"/>
              <a:cs typeface="Arial"/>
              <a:sym typeface="Arial"/>
            </a:endParaRPr>
          </a:p>
        </p:txBody>
      </p:sp>
      <p:sp>
        <p:nvSpPr>
          <p:cNvPr id="309" name="Google Shape;309;p17"/>
          <p:cNvSpPr/>
          <p:nvPr/>
        </p:nvSpPr>
        <p:spPr>
          <a:xfrm>
            <a:off x="5445778" y="4766267"/>
            <a:ext cx="4242041" cy="1437932"/>
          </a:xfrm>
          <a:prstGeom prst="roundRect">
            <a:avLst>
              <a:gd name="adj" fmla="val 16667"/>
            </a:avLst>
          </a:prstGeom>
          <a:solidFill>
            <a:srgbClr val="FFFFFF"/>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Target Revenue per Customer explained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What will each customer be worth on average? You can increase your revenue per customer by selling add-ons like complimentary products, accessories, and replaceable parts.</a:t>
            </a:r>
            <a:endParaRPr sz="1000" b="0" i="0" u="none" strike="noStrike" cap="none">
              <a:solidFill>
                <a:srgbClr val="182933"/>
              </a:solidFill>
              <a:highlight>
                <a:srgbClr val="00FF00"/>
              </a:highlight>
              <a:latin typeface="Outfit"/>
              <a:ea typeface="Outfit"/>
              <a:cs typeface="Outfit"/>
              <a:sym typeface="Outfit"/>
            </a:endParaRPr>
          </a:p>
        </p:txBody>
      </p:sp>
      <p:pic>
        <p:nvPicPr>
          <p:cNvPr id="310" name="Google Shape;310;p17"/>
          <p:cNvPicPr preferRelativeResize="0"/>
          <p:nvPr/>
        </p:nvPicPr>
        <p:blipFill rotWithShape="1">
          <a:blip r:embed="rId3">
            <a:alphaModFix/>
          </a:blip>
          <a:srcRect/>
          <a:stretch/>
        </p:blipFill>
        <p:spPr>
          <a:xfrm>
            <a:off x="5574437" y="4944637"/>
            <a:ext cx="187332" cy="273083"/>
          </a:xfrm>
          <a:prstGeom prst="rect">
            <a:avLst/>
          </a:prstGeom>
          <a:noFill/>
          <a:ln>
            <a:noFill/>
          </a:ln>
        </p:spPr>
      </p:pic>
      <p:sp>
        <p:nvSpPr>
          <p:cNvPr id="311" name="Google Shape;311;p17"/>
          <p:cNvSpPr txBox="1"/>
          <p:nvPr/>
        </p:nvSpPr>
        <p:spPr>
          <a:xfrm>
            <a:off x="5445777" y="1178239"/>
            <a:ext cx="3556200" cy="11013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Example product sales in year 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2500"/>
              <a:buFont typeface="Arial"/>
              <a:buNone/>
            </a:pPr>
            <a:r>
              <a:rPr lang="en-GB" sz="2500" b="1">
                <a:solidFill>
                  <a:srgbClr val="182933"/>
                </a:solidFill>
                <a:latin typeface="Outfit"/>
                <a:ea typeface="Outfit"/>
                <a:cs typeface="Outfit"/>
                <a:sym typeface="Outfit"/>
              </a:rPr>
              <a:t>{{ex_yr3_units}}</a:t>
            </a:r>
            <a:endParaRPr sz="1400" b="0" i="0" u="none" strike="noStrike" cap="none">
              <a:solidFill>
                <a:srgbClr val="000000"/>
              </a:solidFill>
              <a:latin typeface="Arial"/>
              <a:ea typeface="Arial"/>
              <a:cs typeface="Arial"/>
              <a:sym typeface="Arial"/>
            </a:endParaRPr>
          </a:p>
        </p:txBody>
      </p:sp>
      <p:sp>
        <p:nvSpPr>
          <p:cNvPr id="312" name="Google Shape;312;p17"/>
          <p:cNvSpPr txBox="1"/>
          <p:nvPr/>
        </p:nvSpPr>
        <p:spPr>
          <a:xfrm>
            <a:off x="1215299" y="3075578"/>
            <a:ext cx="3556200" cy="11013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ctr" rtl="0">
              <a:lnSpc>
                <a:spcPct val="100000"/>
              </a:lnSpc>
              <a:spcBef>
                <a:spcPts val="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Example add on value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50"/>
              </a:spcBef>
              <a:spcAft>
                <a:spcPts val="0"/>
              </a:spcAft>
              <a:buClr>
                <a:srgbClr val="000000"/>
              </a:buClr>
              <a:buSzPts val="2500"/>
              <a:buFont typeface="Arial"/>
              <a:buNone/>
            </a:pPr>
            <a:r>
              <a:rPr lang="en-GB" sz="2500" b="1">
                <a:solidFill>
                  <a:srgbClr val="182933"/>
                </a:solidFill>
                <a:latin typeface="Outfit"/>
                <a:ea typeface="Outfit"/>
                <a:cs typeface="Outfit"/>
                <a:sym typeface="Outfit"/>
              </a:rPr>
              <a:t>{{ex_add_value}}</a:t>
            </a:r>
            <a:endParaRPr sz="1400" b="0" i="0" u="none" strike="noStrike" cap="none">
              <a:solidFill>
                <a:srgbClr val="000000"/>
              </a:solidFill>
              <a:latin typeface="Arial"/>
              <a:ea typeface="Arial"/>
              <a:cs typeface="Arial"/>
              <a:sym typeface="Arial"/>
            </a:endParaRPr>
          </a:p>
        </p:txBody>
      </p:sp>
      <p:sp>
        <p:nvSpPr>
          <p:cNvPr id="313" name="Google Shape;313;p17"/>
          <p:cNvSpPr txBox="1"/>
          <p:nvPr/>
        </p:nvSpPr>
        <p:spPr>
          <a:xfrm>
            <a:off x="1215298" y="2414548"/>
            <a:ext cx="3556165"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GB" sz="4000" b="1" i="0" u="none" strike="noStrike" cap="none">
                <a:solidFill>
                  <a:srgbClr val="182933"/>
                </a:solidFill>
                <a:latin typeface="Outfit"/>
                <a:ea typeface="Outfit"/>
                <a:cs typeface="Outfit"/>
                <a:sym typeface="Outfit"/>
              </a:rPr>
              <a:t>+</a:t>
            </a:r>
            <a:endParaRPr sz="4000" b="0" i="0" u="none" strike="noStrike" cap="none">
              <a:solidFill>
                <a:schemeClr val="dk1"/>
              </a:solidFill>
              <a:latin typeface="Arial"/>
              <a:ea typeface="Arial"/>
              <a:cs typeface="Arial"/>
              <a:sym typeface="Arial"/>
            </a:endParaRPr>
          </a:p>
        </p:txBody>
      </p:sp>
      <p:sp>
        <p:nvSpPr>
          <p:cNvPr id="314" name="Google Shape;314;p17"/>
          <p:cNvSpPr txBox="1"/>
          <p:nvPr/>
        </p:nvSpPr>
        <p:spPr>
          <a:xfrm>
            <a:off x="1215298" y="4117675"/>
            <a:ext cx="3556165"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GB" sz="4000" b="1" i="0" u="none" strike="noStrike" cap="none">
                <a:solidFill>
                  <a:srgbClr val="182933"/>
                </a:solidFill>
                <a:latin typeface="Outfit"/>
                <a:ea typeface="Outfit"/>
                <a:cs typeface="Outfit"/>
                <a:sym typeface="Outfit"/>
              </a:rPr>
              <a:t>=</a:t>
            </a:r>
            <a:endParaRPr sz="4000" b="0" i="0" u="none" strike="noStrike" cap="none">
              <a:solidFill>
                <a:schemeClr val="dk1"/>
              </a:solidFill>
              <a:latin typeface="Arial"/>
              <a:ea typeface="Arial"/>
              <a:cs typeface="Arial"/>
              <a:sym typeface="Arial"/>
            </a:endParaRPr>
          </a:p>
        </p:txBody>
      </p:sp>
      <p:sp>
        <p:nvSpPr>
          <p:cNvPr id="315" name="Google Shape;315;p17"/>
          <p:cNvSpPr txBox="1"/>
          <p:nvPr/>
        </p:nvSpPr>
        <p:spPr>
          <a:xfrm rot="2700000">
            <a:off x="4763913" y="1492868"/>
            <a:ext cx="689418"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GB" sz="4000" b="1" i="0" u="none" strike="noStrike" cap="none">
                <a:solidFill>
                  <a:srgbClr val="182933"/>
                </a:solidFill>
                <a:latin typeface="Outfit"/>
                <a:ea typeface="Outfit"/>
                <a:cs typeface="Outfit"/>
                <a:sym typeface="Outfit"/>
              </a:rPr>
              <a:t>+</a:t>
            </a:r>
            <a:endParaRPr sz="4000" b="0" i="0" u="none" strike="noStrike" cap="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19"/>
        <p:cNvGrpSpPr/>
        <p:nvPr/>
      </p:nvGrpSpPr>
      <p:grpSpPr>
        <a:xfrm>
          <a:off x="0" y="0"/>
          <a:ext cx="0" cy="0"/>
          <a:chOff x="0" y="0"/>
          <a:chExt cx="0" cy="0"/>
        </a:xfrm>
      </p:grpSpPr>
      <p:sp>
        <p:nvSpPr>
          <p:cNvPr id="320" name="Google Shape;320;p18"/>
          <p:cNvSpPr txBox="1"/>
          <p:nvPr/>
        </p:nvSpPr>
        <p:spPr>
          <a:xfrm>
            <a:off x="720000" y="558416"/>
            <a:ext cx="1905811" cy="323165"/>
          </a:xfrm>
          <a:prstGeom prst="rect">
            <a:avLst/>
          </a:prstGeom>
          <a:solidFill>
            <a:srgbClr val="F7C47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Viability estimate</a:t>
            </a:r>
            <a:endParaRPr sz="1400" b="0" i="0" u="none" strike="noStrike" cap="none">
              <a:solidFill>
                <a:srgbClr val="000000"/>
              </a:solidFill>
              <a:latin typeface="Arial"/>
              <a:ea typeface="Arial"/>
              <a:cs typeface="Arial"/>
              <a:sym typeface="Arial"/>
            </a:endParaRPr>
          </a:p>
        </p:txBody>
      </p:sp>
      <p:sp>
        <p:nvSpPr>
          <p:cNvPr id="321" name="Google Shape;321;p18"/>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322" name="Google Shape;322;p18"/>
          <p:cNvSpPr txBox="1"/>
          <p:nvPr/>
        </p:nvSpPr>
        <p:spPr>
          <a:xfrm>
            <a:off x="10214497" y="-6794"/>
            <a:ext cx="1910447" cy="3928594"/>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This viability model provides a simplified view of how your business can reach a sustainable revenue target by Year 3. It assumes a direct-to-consumer sales funnel and uses standard benchmarks for digital acquisition and conversion rates. The key question is whether your Total Addressable Market (TAM) is large enough to support the required volume of impressions and conversions.</a:t>
            </a:r>
            <a:endParaRPr sz="1000" b="1" i="0" u="none" strike="noStrike" cap="none">
              <a:solidFill>
                <a:srgbClr val="182933"/>
              </a:solidFill>
              <a:latin typeface="Outfit"/>
              <a:ea typeface="Outfit"/>
              <a:cs typeface="Outfit"/>
              <a:sym typeface="Outfit"/>
            </a:endParaRPr>
          </a:p>
        </p:txBody>
      </p:sp>
      <p:sp>
        <p:nvSpPr>
          <p:cNvPr id="323" name="Google Shape;32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18</a:t>
            </a:fld>
            <a:endParaRPr/>
          </a:p>
        </p:txBody>
      </p:sp>
      <p:sp>
        <p:nvSpPr>
          <p:cNvPr id="324" name="Google Shape;324;p18"/>
          <p:cNvSpPr txBox="1"/>
          <p:nvPr/>
        </p:nvSpPr>
        <p:spPr>
          <a:xfrm>
            <a:off x="636965" y="6420406"/>
            <a:ext cx="961021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A5A5A5"/>
                </a:solidFill>
                <a:latin typeface="Outfit"/>
                <a:ea typeface="Outfit"/>
                <a:cs typeface="Outfit"/>
                <a:sym typeface="Outfit"/>
              </a:rPr>
              <a:t>Based on nominal values for a direct-to-consumer sales model. You can adjust these numbers in the provided spreadsheet.</a:t>
            </a:r>
            <a:endParaRPr sz="1000" b="1" i="0" u="none" strike="noStrike" cap="none">
              <a:solidFill>
                <a:srgbClr val="A5A5A5"/>
              </a:solidFill>
              <a:latin typeface="Outfit"/>
              <a:ea typeface="Outfit"/>
              <a:cs typeface="Outfit"/>
              <a:sym typeface="Outfit"/>
            </a:endParaRPr>
          </a:p>
        </p:txBody>
      </p:sp>
      <p:pic>
        <p:nvPicPr>
          <p:cNvPr id="325" name="Google Shape;325;p18"/>
          <p:cNvPicPr preferRelativeResize="0"/>
          <p:nvPr/>
        </p:nvPicPr>
        <p:blipFill rotWithShape="1">
          <a:blip r:embed="rId3">
            <a:alphaModFix/>
          </a:blip>
          <a:srcRect/>
          <a:stretch/>
        </p:blipFill>
        <p:spPr>
          <a:xfrm>
            <a:off x="457506" y="1035496"/>
            <a:ext cx="9602411" cy="49174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29"/>
        <p:cNvGrpSpPr/>
        <p:nvPr/>
      </p:nvGrpSpPr>
      <p:grpSpPr>
        <a:xfrm>
          <a:off x="0" y="0"/>
          <a:ext cx="0" cy="0"/>
          <a:chOff x="0" y="0"/>
          <a:chExt cx="0" cy="0"/>
        </a:xfrm>
      </p:grpSpPr>
      <p:sp>
        <p:nvSpPr>
          <p:cNvPr id="330" name="Google Shape;330;p19"/>
          <p:cNvSpPr/>
          <p:nvPr/>
        </p:nvSpPr>
        <p:spPr>
          <a:xfrm>
            <a:off x="0" y="3445"/>
            <a:ext cx="12192000" cy="6854555"/>
          </a:xfrm>
          <a:prstGeom prst="rect">
            <a:avLst/>
          </a:prstGeom>
          <a:solidFill>
            <a:srgbClr val="43B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331" name="Google Shape;331;p19"/>
          <p:cNvPicPr preferRelativeResize="0"/>
          <p:nvPr/>
        </p:nvPicPr>
        <p:blipFill rotWithShape="1">
          <a:blip r:embed="rId3">
            <a:alphaModFix/>
          </a:blip>
          <a:srcRect/>
          <a:stretch/>
        </p:blipFill>
        <p:spPr>
          <a:xfrm>
            <a:off x="2390062" y="464256"/>
            <a:ext cx="7411876" cy="5929488"/>
          </a:xfrm>
          <a:prstGeom prst="rect">
            <a:avLst/>
          </a:prstGeom>
          <a:noFill/>
          <a:ln>
            <a:noFill/>
          </a:ln>
        </p:spPr>
      </p:pic>
      <p:sp>
        <p:nvSpPr>
          <p:cNvPr id="332" name="Google Shape;3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19</a:t>
            </a:fld>
            <a:endParaRPr/>
          </a:p>
        </p:txBody>
      </p:sp>
      <p:grpSp>
        <p:nvGrpSpPr>
          <p:cNvPr id="333" name="Google Shape;333;p19"/>
          <p:cNvGrpSpPr/>
          <p:nvPr/>
        </p:nvGrpSpPr>
        <p:grpSpPr>
          <a:xfrm>
            <a:off x="3197628" y="2576556"/>
            <a:ext cx="5796744" cy="1497736"/>
            <a:chOff x="3197628" y="2842763"/>
            <a:chExt cx="5796744" cy="1497736"/>
          </a:xfrm>
        </p:grpSpPr>
        <p:sp>
          <p:nvSpPr>
            <p:cNvPr id="334" name="Google Shape;334;p19"/>
            <p:cNvSpPr txBox="1"/>
            <p:nvPr/>
          </p:nvSpPr>
          <p:spPr>
            <a:xfrm>
              <a:off x="3197628" y="2842763"/>
              <a:ext cx="5796744"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GB" sz="5000" b="1" i="0" u="none" strike="noStrike" cap="none">
                  <a:solidFill>
                    <a:schemeClr val="lt1"/>
                  </a:solidFill>
                  <a:latin typeface="Outfit"/>
                  <a:ea typeface="Outfit"/>
                  <a:cs typeface="Outfit"/>
                  <a:sym typeface="Outfit"/>
                </a:rPr>
                <a:t>Feasibility</a:t>
              </a:r>
              <a:endParaRPr sz="5000" b="1" i="0" u="none" strike="noStrike" cap="none">
                <a:solidFill>
                  <a:schemeClr val="lt1"/>
                </a:solidFill>
                <a:latin typeface="Outfit"/>
                <a:ea typeface="Outfit"/>
                <a:cs typeface="Outfit"/>
                <a:sym typeface="Outfit"/>
              </a:endParaRPr>
            </a:p>
          </p:txBody>
        </p:sp>
        <p:sp>
          <p:nvSpPr>
            <p:cNvPr id="335" name="Google Shape;335;p19"/>
            <p:cNvSpPr txBox="1"/>
            <p:nvPr/>
          </p:nvSpPr>
          <p:spPr>
            <a:xfrm>
              <a:off x="3707745" y="4032722"/>
              <a:ext cx="477651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chemeClr val="lt1"/>
                  </a:solidFill>
                  <a:latin typeface="Outfit"/>
                  <a:ea typeface="Outfit"/>
                  <a:cs typeface="Outfit"/>
                  <a:sym typeface="Outfit"/>
                </a:rPr>
                <a:t>Is it feasible to produce your innovation?</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39"/>
        <p:cNvGrpSpPr/>
        <p:nvPr/>
      </p:nvGrpSpPr>
      <p:grpSpPr>
        <a:xfrm>
          <a:off x="0" y="0"/>
          <a:ext cx="0" cy="0"/>
          <a:chOff x="0" y="0"/>
          <a:chExt cx="0" cy="0"/>
        </a:xfrm>
      </p:grpSpPr>
      <p:sp>
        <p:nvSpPr>
          <p:cNvPr id="340" name="Google Shape;340;p20"/>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341" name="Google Shape;341;p20"/>
          <p:cNvSpPr txBox="1"/>
          <p:nvPr/>
        </p:nvSpPr>
        <p:spPr>
          <a:xfrm>
            <a:off x="720002" y="558417"/>
            <a:ext cx="2807852" cy="323165"/>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Example traction roadmap</a:t>
            </a:r>
            <a:endParaRPr sz="1400" b="0" i="0" u="none" strike="noStrike" cap="none">
              <a:solidFill>
                <a:srgbClr val="000000"/>
              </a:solidFill>
              <a:latin typeface="Arial"/>
              <a:ea typeface="Arial"/>
              <a:cs typeface="Arial"/>
              <a:sym typeface="Arial"/>
            </a:endParaRPr>
          </a:p>
        </p:txBody>
      </p:sp>
      <p:sp>
        <p:nvSpPr>
          <p:cNvPr id="342" name="Google Shape;34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20</a:t>
            </a:fld>
            <a:endParaRPr/>
          </a:p>
        </p:txBody>
      </p:sp>
      <p:sp>
        <p:nvSpPr>
          <p:cNvPr id="343" name="Google Shape;343;p20"/>
          <p:cNvSpPr txBox="1"/>
          <p:nvPr/>
        </p:nvSpPr>
        <p:spPr>
          <a:xfrm>
            <a:off x="636965" y="6230807"/>
            <a:ext cx="910034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A5A5A5"/>
                </a:solidFill>
                <a:latin typeface="Outfit"/>
                <a:ea typeface="Outfit"/>
                <a:cs typeface="Outfit"/>
                <a:sym typeface="Outfit"/>
              </a:rPr>
              <a:t>Based on nominal values including a 10x growth multiplier suggested in the playbook Running Lean. </a:t>
            </a:r>
            <a:br>
              <a:rPr lang="en-GB" sz="1000" b="1" i="0" u="none" strike="noStrike" cap="none">
                <a:solidFill>
                  <a:srgbClr val="A5A5A5"/>
                </a:solidFill>
                <a:latin typeface="Outfit"/>
                <a:ea typeface="Outfit"/>
                <a:cs typeface="Outfit"/>
                <a:sym typeface="Outfit"/>
              </a:rPr>
            </a:br>
            <a:r>
              <a:rPr lang="en-GB" sz="1000" b="1" i="0" u="none" strike="noStrike" cap="none">
                <a:solidFill>
                  <a:srgbClr val="A5A5A5"/>
                </a:solidFill>
                <a:latin typeface="Outfit"/>
                <a:ea typeface="Outfit"/>
                <a:cs typeface="Outfit"/>
                <a:sym typeface="Outfit"/>
              </a:rPr>
              <a:t>You can adjust these numbers in the provided spreadsheet.</a:t>
            </a:r>
            <a:endParaRPr sz="1000" b="1" i="0" u="none" strike="noStrike" cap="none">
              <a:solidFill>
                <a:srgbClr val="A5A5A5"/>
              </a:solidFill>
              <a:latin typeface="Outfit"/>
              <a:ea typeface="Outfit"/>
              <a:cs typeface="Outfit"/>
              <a:sym typeface="Outfit"/>
            </a:endParaRPr>
          </a:p>
        </p:txBody>
      </p:sp>
      <p:sp>
        <p:nvSpPr>
          <p:cNvPr id="344" name="Google Shape;344;p20"/>
          <p:cNvSpPr txBox="1"/>
          <p:nvPr/>
        </p:nvSpPr>
        <p:spPr>
          <a:xfrm>
            <a:off x="10214497" y="-6794"/>
            <a:ext cx="1910447" cy="1466382"/>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An example traction roadmap has been considered.</a:t>
            </a:r>
            <a:endParaRPr sz="1400" b="0" i="0" u="none" strike="noStrike" cap="none">
              <a:solidFill>
                <a:srgbClr val="000000"/>
              </a:solidFill>
              <a:latin typeface="Arial"/>
              <a:ea typeface="Arial"/>
              <a:cs typeface="Arial"/>
              <a:sym typeface="Arial"/>
            </a:endParaRPr>
          </a:p>
        </p:txBody>
      </p:sp>
      <p:sp>
        <p:nvSpPr>
          <p:cNvPr id="345" name="Google Shape;345;p20"/>
          <p:cNvSpPr txBox="1"/>
          <p:nvPr/>
        </p:nvSpPr>
        <p:spPr>
          <a:xfrm>
            <a:off x="930766" y="1386261"/>
            <a:ext cx="3879900" cy="4230900"/>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Y</a:t>
            </a:r>
            <a:br>
              <a:rPr lang="en-GB" sz="4000" b="1" i="0" u="none" strike="noStrike" cap="none">
                <a:solidFill>
                  <a:srgbClr val="182933"/>
                </a:solidFill>
                <a:latin typeface="Outfit"/>
                <a:ea typeface="Outfit"/>
                <a:cs typeface="Outfit"/>
                <a:sym typeface="Outfit"/>
              </a:rPr>
            </a:br>
            <a:r>
              <a:rPr lang="en-GB" sz="3500" b="1">
                <a:solidFill>
                  <a:srgbClr val="182933"/>
                </a:solidFill>
                <a:latin typeface="Outfit"/>
                <a:ea typeface="Outfit"/>
                <a:cs typeface="Outfit"/>
                <a:sym typeface="Outfit"/>
              </a:rPr>
              <a:t>{{cust_yr1}}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Y</a:t>
            </a:r>
            <a:br>
              <a:rPr lang="en-GB" sz="4000" b="1" i="0" u="none" strike="noStrike" cap="none">
                <a:solidFill>
                  <a:srgbClr val="182933"/>
                </a:solidFill>
                <a:latin typeface="Outfit"/>
                <a:ea typeface="Outfit"/>
                <a:cs typeface="Outfit"/>
                <a:sym typeface="Outfit"/>
              </a:rPr>
            </a:br>
            <a:r>
              <a:rPr lang="en-GB" sz="3500" b="1">
                <a:solidFill>
                  <a:srgbClr val="182933"/>
                </a:solidFill>
                <a:latin typeface="Outfit"/>
                <a:ea typeface="Outfit"/>
                <a:cs typeface="Outfit"/>
                <a:sym typeface="Outfit"/>
              </a:rPr>
              <a:t>{{cust_yr2}}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Y</a:t>
            </a:r>
            <a:br>
              <a:rPr lang="en-GB" sz="4000" b="1" i="0" u="none" strike="noStrike" cap="none">
                <a:solidFill>
                  <a:srgbClr val="182933"/>
                </a:solidFill>
                <a:latin typeface="Outfit"/>
                <a:ea typeface="Outfit"/>
                <a:cs typeface="Outfit"/>
                <a:sym typeface="Outfit"/>
              </a:rPr>
            </a:br>
            <a:r>
              <a:rPr lang="en-GB" sz="3500" b="1">
                <a:solidFill>
                  <a:srgbClr val="182933"/>
                </a:solidFill>
                <a:latin typeface="Outfit"/>
                <a:ea typeface="Outfit"/>
                <a:cs typeface="Outfit"/>
                <a:sym typeface="Outfit"/>
              </a:rPr>
              <a:t>{{cust_yr3}}</a:t>
            </a:r>
            <a:endParaRPr sz="3500" b="1">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TOTAL OVER 3 YEARS</a:t>
            </a:r>
            <a:br>
              <a:rPr lang="en-GB" sz="4000" b="1" i="0" u="none" strike="noStrike" cap="none">
                <a:solidFill>
                  <a:srgbClr val="182933"/>
                </a:solidFill>
                <a:latin typeface="Outfit"/>
                <a:ea typeface="Outfit"/>
                <a:cs typeface="Outfit"/>
                <a:sym typeface="Outfit"/>
              </a:rPr>
            </a:br>
            <a:r>
              <a:rPr lang="en-GB" sz="3500" b="1">
                <a:solidFill>
                  <a:srgbClr val="182933"/>
                </a:solidFill>
                <a:latin typeface="Outfit"/>
                <a:ea typeface="Outfit"/>
                <a:cs typeface="Outfit"/>
                <a:sym typeface="Outfit"/>
              </a:rPr>
              <a:t>{{tot_cust}}</a:t>
            </a:r>
            <a:endParaRPr sz="1400" b="0" i="0" u="none" strike="noStrike" cap="none">
              <a:solidFill>
                <a:srgbClr val="000000"/>
              </a:solidFill>
              <a:latin typeface="Arial"/>
              <a:ea typeface="Arial"/>
              <a:cs typeface="Arial"/>
              <a:sym typeface="Arial"/>
            </a:endParaRPr>
          </a:p>
        </p:txBody>
      </p:sp>
      <p:sp>
        <p:nvSpPr>
          <p:cNvPr id="346" name="Google Shape;346;p20"/>
          <p:cNvSpPr txBox="1"/>
          <p:nvPr/>
        </p:nvSpPr>
        <p:spPr>
          <a:xfrm>
            <a:off x="796200" y="1611865"/>
            <a:ext cx="1597992"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 YEAR 1 CUSTOMERS</a:t>
            </a:r>
            <a:endParaRPr sz="1000" b="1" i="0" u="none" strike="noStrike" cap="none">
              <a:solidFill>
                <a:schemeClr val="lt1"/>
              </a:solidFill>
              <a:latin typeface="Outfit"/>
              <a:ea typeface="Outfit"/>
              <a:cs typeface="Outfit"/>
              <a:sym typeface="Outfit"/>
            </a:endParaRPr>
          </a:p>
        </p:txBody>
      </p:sp>
      <p:sp>
        <p:nvSpPr>
          <p:cNvPr id="347" name="Google Shape;347;p20"/>
          <p:cNvSpPr txBox="1"/>
          <p:nvPr/>
        </p:nvSpPr>
        <p:spPr>
          <a:xfrm>
            <a:off x="796199" y="2611229"/>
            <a:ext cx="1597991"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 YEAR 2 CUSTOMERS</a:t>
            </a:r>
            <a:endParaRPr sz="1000" b="1" i="0" u="none" strike="noStrike" cap="none">
              <a:solidFill>
                <a:schemeClr val="lt1"/>
              </a:solidFill>
              <a:latin typeface="Outfit"/>
              <a:ea typeface="Outfit"/>
              <a:cs typeface="Outfit"/>
              <a:sym typeface="Outfit"/>
            </a:endParaRPr>
          </a:p>
        </p:txBody>
      </p:sp>
      <p:sp>
        <p:nvSpPr>
          <p:cNvPr id="348" name="Google Shape;348;p20"/>
          <p:cNvSpPr txBox="1"/>
          <p:nvPr/>
        </p:nvSpPr>
        <p:spPr>
          <a:xfrm>
            <a:off x="796200" y="3617859"/>
            <a:ext cx="1597990"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 YEAR 3 CUSTOMERS</a:t>
            </a:r>
            <a:endParaRPr sz="1000" b="1" i="0" u="none" strike="noStrike" cap="none">
              <a:solidFill>
                <a:schemeClr val="lt1"/>
              </a:solidFill>
              <a:latin typeface="Outfit"/>
              <a:ea typeface="Outfit"/>
              <a:cs typeface="Outfit"/>
              <a:sym typeface="Outfit"/>
            </a:endParaRPr>
          </a:p>
        </p:txBody>
      </p:sp>
      <p:graphicFrame>
        <p:nvGraphicFramePr>
          <p:cNvPr id="349" name="Google Shape;349;p20"/>
          <p:cNvGraphicFramePr/>
          <p:nvPr/>
        </p:nvGraphicFramePr>
        <p:xfrm>
          <a:off x="5169159" y="1386261"/>
          <a:ext cx="4674637" cy="422396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53"/>
        <p:cNvGrpSpPr/>
        <p:nvPr/>
      </p:nvGrpSpPr>
      <p:grpSpPr>
        <a:xfrm>
          <a:off x="0" y="0"/>
          <a:ext cx="0" cy="0"/>
          <a:chOff x="0" y="0"/>
          <a:chExt cx="0" cy="0"/>
        </a:xfrm>
      </p:grpSpPr>
      <p:sp>
        <p:nvSpPr>
          <p:cNvPr id="354" name="Google Shape;354;p21"/>
          <p:cNvSpPr/>
          <p:nvPr/>
        </p:nvSpPr>
        <p:spPr>
          <a:xfrm>
            <a:off x="10214497" y="-6794"/>
            <a:ext cx="1977503" cy="68647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355" name="Google Shape;355;p21"/>
          <p:cNvSpPr txBox="1"/>
          <p:nvPr/>
        </p:nvSpPr>
        <p:spPr>
          <a:xfrm>
            <a:off x="10214497" y="-6794"/>
            <a:ext cx="1910447" cy="1620270"/>
          </a:xfrm>
          <a:prstGeom prst="rect">
            <a:avLst/>
          </a:prstGeom>
          <a:solidFill>
            <a:schemeClr val="lt1"/>
          </a:solidFill>
          <a:ln>
            <a:noFill/>
          </a:ln>
        </p:spPr>
        <p:txBody>
          <a:bodyPr spcFirstLastPara="1" wrap="square" lIns="180000" tIns="180000" rIns="180000" bIns="1800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182933"/>
              </a:solidFill>
              <a:latin typeface="Outfit"/>
              <a:ea typeface="Outfit"/>
              <a:cs typeface="Outfit"/>
              <a:sym typeface="Outfit"/>
            </a:endParaRPr>
          </a:p>
          <a:p>
            <a:pPr marL="0" marR="0" lvl="0" indent="0" algn="l" rtl="0">
              <a:lnSpc>
                <a:spcPct val="100000"/>
              </a:lnSpc>
              <a:spcBef>
                <a:spcPts val="1250"/>
              </a:spcBef>
              <a:spcAft>
                <a:spcPts val="0"/>
              </a:spcAft>
              <a:buClr>
                <a:srgbClr val="000000"/>
              </a:buClr>
              <a:buSzPts val="1000"/>
              <a:buFont typeface="Arial"/>
              <a:buNone/>
            </a:pPr>
            <a:r>
              <a:rPr lang="en-GB" sz="1000" b="1" i="0" u="none" strike="noStrike" cap="none">
                <a:solidFill>
                  <a:srgbClr val="182933"/>
                </a:solidFill>
                <a:latin typeface="Outfit"/>
                <a:ea typeface="Outfit"/>
                <a:cs typeface="Outfit"/>
                <a:sym typeface="Outfit"/>
              </a:rPr>
              <a:t>Research team notes: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000"/>
              <a:buFont typeface="Arial"/>
              <a:buNone/>
            </a:pPr>
            <a:r>
              <a:rPr lang="en-GB" sz="1000" b="0" i="0" u="none" strike="noStrike" cap="none">
                <a:solidFill>
                  <a:srgbClr val="182933"/>
                </a:solidFill>
                <a:latin typeface="Outfit"/>
                <a:ea typeface="Outfit"/>
                <a:cs typeface="Outfit"/>
                <a:sym typeface="Outfit"/>
              </a:rPr>
              <a:t>These calculations use highly speculative data and are not financial advice.</a:t>
            </a:r>
            <a:endParaRPr sz="1400" b="0" i="0" u="none" strike="noStrike" cap="none">
              <a:solidFill>
                <a:srgbClr val="000000"/>
              </a:solidFill>
              <a:latin typeface="Arial"/>
              <a:ea typeface="Arial"/>
              <a:cs typeface="Arial"/>
              <a:sym typeface="Arial"/>
            </a:endParaRPr>
          </a:p>
        </p:txBody>
      </p:sp>
      <p:sp>
        <p:nvSpPr>
          <p:cNvPr id="356" name="Google Shape;356;p21"/>
          <p:cNvSpPr txBox="1"/>
          <p:nvPr/>
        </p:nvSpPr>
        <p:spPr>
          <a:xfrm>
            <a:off x="720001" y="558417"/>
            <a:ext cx="2776962" cy="323165"/>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Example net profit targets</a:t>
            </a:r>
            <a:endParaRPr sz="1400" b="0" i="0" u="none" strike="noStrike" cap="none">
              <a:solidFill>
                <a:srgbClr val="000000"/>
              </a:solidFill>
              <a:latin typeface="Arial"/>
              <a:ea typeface="Arial"/>
              <a:cs typeface="Arial"/>
              <a:sym typeface="Arial"/>
            </a:endParaRPr>
          </a:p>
        </p:txBody>
      </p:sp>
      <p:sp>
        <p:nvSpPr>
          <p:cNvPr id="357" name="Google Shape;3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21</a:t>
            </a:fld>
            <a:endParaRPr/>
          </a:p>
        </p:txBody>
      </p:sp>
      <p:sp>
        <p:nvSpPr>
          <p:cNvPr id="358" name="Google Shape;358;p21"/>
          <p:cNvSpPr txBox="1"/>
          <p:nvPr/>
        </p:nvSpPr>
        <p:spPr>
          <a:xfrm>
            <a:off x="636965" y="6230807"/>
            <a:ext cx="961021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rgbClr val="A5A5A5"/>
                </a:solidFill>
                <a:latin typeface="Outfit"/>
                <a:ea typeface="Outfit"/>
                <a:cs typeface="Outfit"/>
                <a:sym typeface="Outfit"/>
              </a:rPr>
              <a:t>Based on nominal values. You can adjust these numbers in the provided spreadsheet.</a:t>
            </a:r>
            <a:endParaRPr sz="1000" b="1" i="0" u="none" strike="noStrike" cap="none">
              <a:solidFill>
                <a:srgbClr val="A5A5A5"/>
              </a:solidFill>
              <a:latin typeface="Outfit"/>
              <a:ea typeface="Outfit"/>
              <a:cs typeface="Outfit"/>
              <a:sym typeface="Outfit"/>
            </a:endParaRPr>
          </a:p>
        </p:txBody>
      </p:sp>
      <p:sp>
        <p:nvSpPr>
          <p:cNvPr id="359" name="Google Shape;359;p21"/>
          <p:cNvSpPr txBox="1"/>
          <p:nvPr/>
        </p:nvSpPr>
        <p:spPr>
          <a:xfrm>
            <a:off x="930766" y="1386261"/>
            <a:ext cx="3879774" cy="4326139"/>
          </a:xfrm>
          <a:prstGeom prst="rect">
            <a:avLst/>
          </a:prstGeom>
          <a:solidFill>
            <a:schemeClr val="lt1"/>
          </a:solidFill>
          <a:ln>
            <a:noFill/>
          </a:ln>
        </p:spPr>
        <p:txBody>
          <a:bodyPr spcFirstLastPara="1" wrap="square" lIns="360000" tIns="180000" rIns="360000" bIns="180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Y</a:t>
            </a:r>
            <a:br>
              <a:rPr lang="en-GB" sz="4000" b="1" i="0" u="none" strike="noStrike" cap="none">
                <a:solidFill>
                  <a:srgbClr val="182933"/>
                </a:solidFill>
                <a:latin typeface="Outfit"/>
                <a:ea typeface="Outfit"/>
                <a:cs typeface="Outfit"/>
                <a:sym typeface="Outfit"/>
              </a:rPr>
            </a:br>
            <a:r>
              <a:rPr lang="en-GB" sz="3500" b="1" i="0" u="none" strike="noStrike" cap="none">
                <a:solidFill>
                  <a:srgbClr val="182933"/>
                </a:solidFill>
                <a:latin typeface="Outfit"/>
                <a:ea typeface="Outfit"/>
                <a:cs typeface="Outfit"/>
                <a:sym typeface="Outfit"/>
              </a:rPr>
              <a:t>£1,000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Y</a:t>
            </a:r>
            <a:br>
              <a:rPr lang="en-GB" sz="4000" b="1" i="0" u="none" strike="noStrike" cap="none">
                <a:solidFill>
                  <a:srgbClr val="182933"/>
                </a:solidFill>
                <a:latin typeface="Outfit"/>
                <a:ea typeface="Outfit"/>
                <a:cs typeface="Outfit"/>
                <a:sym typeface="Outfit"/>
              </a:rPr>
            </a:br>
            <a:r>
              <a:rPr lang="en-GB" sz="3500" b="1" i="0" u="none" strike="noStrike" cap="none">
                <a:solidFill>
                  <a:srgbClr val="182933"/>
                </a:solidFill>
                <a:latin typeface="Outfit"/>
                <a:ea typeface="Outfit"/>
                <a:cs typeface="Outfit"/>
                <a:sym typeface="Outfit"/>
              </a:rPr>
              <a:t>£10,000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Y</a:t>
            </a:r>
            <a:br>
              <a:rPr lang="en-GB" sz="4000" b="1" i="0" u="none" strike="noStrike" cap="none">
                <a:solidFill>
                  <a:srgbClr val="182933"/>
                </a:solidFill>
                <a:latin typeface="Outfit"/>
                <a:ea typeface="Outfit"/>
                <a:cs typeface="Outfit"/>
                <a:sym typeface="Outfit"/>
              </a:rPr>
            </a:br>
            <a:r>
              <a:rPr lang="en-GB" sz="3500" b="1" i="0" u="none" strike="noStrike" cap="none">
                <a:solidFill>
                  <a:srgbClr val="182933"/>
                </a:solidFill>
                <a:latin typeface="Outfit"/>
                <a:ea typeface="Outfit"/>
                <a:cs typeface="Outfit"/>
                <a:sym typeface="Outfit"/>
              </a:rPr>
              <a:t>£100,000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2000"/>
              <a:buFont typeface="Arial"/>
              <a:buNone/>
            </a:pPr>
            <a:r>
              <a:rPr lang="en-GB" sz="2000" b="1" i="0" u="none" strike="noStrike" cap="none">
                <a:solidFill>
                  <a:srgbClr val="182933"/>
                </a:solidFill>
                <a:latin typeface="Outfit"/>
                <a:ea typeface="Outfit"/>
                <a:cs typeface="Outfit"/>
                <a:sym typeface="Outfit"/>
              </a:rPr>
              <a:t>TOTAL OVER 3 YEARS</a:t>
            </a:r>
            <a:br>
              <a:rPr lang="en-GB" sz="4000" b="1" i="0" u="none" strike="noStrike" cap="none">
                <a:solidFill>
                  <a:srgbClr val="182933"/>
                </a:solidFill>
                <a:latin typeface="Outfit"/>
                <a:ea typeface="Outfit"/>
                <a:cs typeface="Outfit"/>
                <a:sym typeface="Outfit"/>
              </a:rPr>
            </a:br>
            <a:r>
              <a:rPr lang="en-GB" sz="3500" b="1" i="0" u="none" strike="noStrike" cap="none">
                <a:solidFill>
                  <a:srgbClr val="182933"/>
                </a:solidFill>
                <a:latin typeface="Outfit"/>
                <a:ea typeface="Outfit"/>
                <a:cs typeface="Outfit"/>
                <a:sym typeface="Outfit"/>
              </a:rPr>
              <a:t>£111,000</a:t>
            </a:r>
            <a:endParaRPr sz="1400" b="0" i="0" u="none" strike="noStrike" cap="none">
              <a:solidFill>
                <a:srgbClr val="000000"/>
              </a:solidFill>
              <a:latin typeface="Arial"/>
              <a:ea typeface="Arial"/>
              <a:cs typeface="Arial"/>
              <a:sym typeface="Arial"/>
            </a:endParaRPr>
          </a:p>
        </p:txBody>
      </p:sp>
      <p:sp>
        <p:nvSpPr>
          <p:cNvPr id="360" name="Google Shape;360;p21"/>
          <p:cNvSpPr txBox="1"/>
          <p:nvPr/>
        </p:nvSpPr>
        <p:spPr>
          <a:xfrm>
            <a:off x="796200" y="1611865"/>
            <a:ext cx="1304826"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 YEAR 1 TARGET</a:t>
            </a:r>
            <a:endParaRPr sz="1000" b="1" i="0" u="none" strike="noStrike" cap="none">
              <a:solidFill>
                <a:schemeClr val="lt1"/>
              </a:solidFill>
              <a:latin typeface="Outfit"/>
              <a:ea typeface="Outfit"/>
              <a:cs typeface="Outfit"/>
              <a:sym typeface="Outfit"/>
            </a:endParaRPr>
          </a:p>
        </p:txBody>
      </p:sp>
      <p:sp>
        <p:nvSpPr>
          <p:cNvPr id="361" name="Google Shape;361;p21"/>
          <p:cNvSpPr txBox="1"/>
          <p:nvPr/>
        </p:nvSpPr>
        <p:spPr>
          <a:xfrm>
            <a:off x="796200" y="2611229"/>
            <a:ext cx="1304826"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 YEAR 2 TARGET</a:t>
            </a:r>
            <a:endParaRPr sz="1000" b="1" i="0" u="none" strike="noStrike" cap="none">
              <a:solidFill>
                <a:schemeClr val="lt1"/>
              </a:solidFill>
              <a:latin typeface="Outfit"/>
              <a:ea typeface="Outfit"/>
              <a:cs typeface="Outfit"/>
              <a:sym typeface="Outfit"/>
            </a:endParaRPr>
          </a:p>
        </p:txBody>
      </p:sp>
      <p:sp>
        <p:nvSpPr>
          <p:cNvPr id="362" name="Google Shape;362;p21"/>
          <p:cNvSpPr txBox="1"/>
          <p:nvPr/>
        </p:nvSpPr>
        <p:spPr>
          <a:xfrm>
            <a:off x="796199" y="3617859"/>
            <a:ext cx="1304825" cy="246221"/>
          </a:xfrm>
          <a:prstGeom prst="rect">
            <a:avLst/>
          </a:prstGeom>
          <a:solidFill>
            <a:srgbClr val="43BAA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GB" sz="1000" b="1" i="0" u="none" strike="noStrike" cap="none">
                <a:solidFill>
                  <a:schemeClr val="lt1"/>
                </a:solidFill>
                <a:latin typeface="Outfit"/>
                <a:ea typeface="Outfit"/>
                <a:cs typeface="Outfit"/>
                <a:sym typeface="Outfit"/>
              </a:rPr>
              <a:t> YEAR 3 TARGET</a:t>
            </a:r>
            <a:endParaRPr sz="1000" b="1" i="0" u="none" strike="noStrike" cap="none">
              <a:solidFill>
                <a:schemeClr val="lt1"/>
              </a:solidFill>
              <a:latin typeface="Outfit"/>
              <a:ea typeface="Outfit"/>
              <a:cs typeface="Outfit"/>
              <a:sym typeface="Outfit"/>
            </a:endParaRPr>
          </a:p>
        </p:txBody>
      </p:sp>
      <p:graphicFrame>
        <p:nvGraphicFramePr>
          <p:cNvPr id="363" name="Google Shape;363;p21"/>
          <p:cNvGraphicFramePr/>
          <p:nvPr/>
        </p:nvGraphicFramePr>
        <p:xfrm>
          <a:off x="5327374" y="1386260"/>
          <a:ext cx="4365266" cy="432613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67"/>
        <p:cNvGrpSpPr/>
        <p:nvPr/>
      </p:nvGrpSpPr>
      <p:grpSpPr>
        <a:xfrm>
          <a:off x="0" y="0"/>
          <a:ext cx="0" cy="0"/>
          <a:chOff x="0" y="0"/>
          <a:chExt cx="0" cy="0"/>
        </a:xfrm>
      </p:grpSpPr>
      <p:sp>
        <p:nvSpPr>
          <p:cNvPr id="368" name="Google Shape;368;p22"/>
          <p:cNvSpPr/>
          <p:nvPr/>
        </p:nvSpPr>
        <p:spPr>
          <a:xfrm>
            <a:off x="0" y="3445"/>
            <a:ext cx="12192000" cy="6854555"/>
          </a:xfrm>
          <a:prstGeom prst="rect">
            <a:avLst/>
          </a:prstGeom>
          <a:solidFill>
            <a:srgbClr val="DC877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369" name="Google Shape;36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22</a:t>
            </a:fld>
            <a:endParaRPr/>
          </a:p>
        </p:txBody>
      </p:sp>
      <p:grpSp>
        <p:nvGrpSpPr>
          <p:cNvPr id="370" name="Google Shape;370;p22"/>
          <p:cNvGrpSpPr/>
          <p:nvPr/>
        </p:nvGrpSpPr>
        <p:grpSpPr>
          <a:xfrm>
            <a:off x="2613454" y="1998774"/>
            <a:ext cx="6965092" cy="2506405"/>
            <a:chOff x="2613454" y="2264981"/>
            <a:chExt cx="6965092" cy="2506405"/>
          </a:xfrm>
        </p:grpSpPr>
        <p:sp>
          <p:nvSpPr>
            <p:cNvPr id="371" name="Google Shape;371;p22"/>
            <p:cNvSpPr txBox="1"/>
            <p:nvPr/>
          </p:nvSpPr>
          <p:spPr>
            <a:xfrm>
              <a:off x="2613454" y="2264981"/>
              <a:ext cx="6965092" cy="16312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GB" sz="5000" b="1" i="0" u="none" strike="noStrike" cap="none">
                  <a:solidFill>
                    <a:schemeClr val="lt1"/>
                  </a:solidFill>
                  <a:latin typeface="Outfit"/>
                  <a:ea typeface="Outfit"/>
                  <a:cs typeface="Outfit"/>
                  <a:sym typeface="Outfit"/>
                </a:rPr>
                <a:t>Your one page Innovate Business Plan</a:t>
              </a:r>
              <a:endParaRPr sz="5000" b="1" i="0" u="none" strike="noStrike" cap="none">
                <a:solidFill>
                  <a:schemeClr val="lt1"/>
                </a:solidFill>
                <a:latin typeface="Outfit"/>
                <a:ea typeface="Outfit"/>
                <a:cs typeface="Outfit"/>
                <a:sym typeface="Outfit"/>
              </a:endParaRPr>
            </a:p>
          </p:txBody>
        </p:sp>
        <p:sp>
          <p:nvSpPr>
            <p:cNvPr id="372" name="Google Shape;372;p22"/>
            <p:cNvSpPr txBox="1"/>
            <p:nvPr/>
          </p:nvSpPr>
          <p:spPr>
            <a:xfrm>
              <a:off x="3707745" y="4032722"/>
              <a:ext cx="4776510"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chemeClr val="lt1"/>
                  </a:solidFill>
                  <a:latin typeface="Outfit"/>
                  <a:ea typeface="Outfit"/>
                  <a:cs typeface="Outfit"/>
                  <a:sym typeface="Outfit"/>
                </a:rPr>
                <a:t>An Innovation Business Plan is a one-page business plan which succinctly helps you describe every aspect of the plan to commercialise the product.</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77"/>
        <p:cNvGrpSpPr/>
        <p:nvPr/>
      </p:nvGrpSpPr>
      <p:grpSpPr>
        <a:xfrm>
          <a:off x="0" y="0"/>
          <a:ext cx="0" cy="0"/>
          <a:chOff x="0" y="0"/>
          <a:chExt cx="0" cy="0"/>
        </a:xfrm>
      </p:grpSpPr>
      <p:sp>
        <p:nvSpPr>
          <p:cNvPr id="378" name="Google Shape;378;p23"/>
          <p:cNvSpPr/>
          <p:nvPr/>
        </p:nvSpPr>
        <p:spPr>
          <a:xfrm>
            <a:off x="3977202" y="6478621"/>
            <a:ext cx="8214798" cy="25930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utfit"/>
              <a:ea typeface="Outfit"/>
              <a:cs typeface="Outfit"/>
              <a:sym typeface="Outfit"/>
            </a:endParaRPr>
          </a:p>
        </p:txBody>
      </p:sp>
      <p:sp>
        <p:nvSpPr>
          <p:cNvPr id="379" name="Google Shape;379;p23"/>
          <p:cNvSpPr txBox="1"/>
          <p:nvPr/>
        </p:nvSpPr>
        <p:spPr>
          <a:xfrm>
            <a:off x="719999" y="558416"/>
            <a:ext cx="1986131" cy="323165"/>
          </a:xfrm>
          <a:prstGeom prst="rect">
            <a:avLst/>
          </a:prstGeom>
          <a:solidFill>
            <a:srgbClr val="18293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500"/>
              <a:buFont typeface="Outfit"/>
              <a:buNone/>
            </a:pPr>
            <a:r>
              <a:rPr lang="en-GB" sz="1500" b="1" i="0" u="none" strike="noStrike" cap="none">
                <a:solidFill>
                  <a:srgbClr val="FFFFFF"/>
                </a:solidFill>
                <a:latin typeface="Outfit"/>
                <a:ea typeface="Outfit"/>
                <a:cs typeface="Outfit"/>
                <a:sym typeface="Outfit"/>
              </a:rPr>
              <a:t> Lean business plan</a:t>
            </a:r>
            <a:endParaRPr sz="1400" b="0" i="0" u="none" strike="noStrike" cap="none">
              <a:solidFill>
                <a:srgbClr val="000000"/>
              </a:solidFill>
              <a:latin typeface="Arial"/>
              <a:ea typeface="Arial"/>
              <a:cs typeface="Arial"/>
              <a:sym typeface="Arial"/>
            </a:endParaRPr>
          </a:p>
        </p:txBody>
      </p:sp>
      <p:graphicFrame>
        <p:nvGraphicFramePr>
          <p:cNvPr id="380" name="Google Shape;380;p23"/>
          <p:cNvGraphicFramePr/>
          <p:nvPr/>
        </p:nvGraphicFramePr>
        <p:xfrm>
          <a:off x="337443" y="1041363"/>
          <a:ext cx="11540400" cy="5596000"/>
        </p:xfrm>
        <a:graphic>
          <a:graphicData uri="http://schemas.openxmlformats.org/drawingml/2006/table">
            <a:tbl>
              <a:tblPr>
                <a:noFill/>
                <a:tableStyleId>{FF51DAC8-A292-441D-BE4C-CEAAA4680A9C}</a:tableStyleId>
              </a:tblPr>
              <a:tblGrid>
                <a:gridCol w="2308075">
                  <a:extLst>
                    <a:ext uri="{9D8B030D-6E8A-4147-A177-3AD203B41FA5}">
                      <a16:colId xmlns:a16="http://schemas.microsoft.com/office/drawing/2014/main" val="20000"/>
                    </a:ext>
                  </a:extLst>
                </a:gridCol>
                <a:gridCol w="2308075">
                  <a:extLst>
                    <a:ext uri="{9D8B030D-6E8A-4147-A177-3AD203B41FA5}">
                      <a16:colId xmlns:a16="http://schemas.microsoft.com/office/drawing/2014/main" val="20001"/>
                    </a:ext>
                  </a:extLst>
                </a:gridCol>
                <a:gridCol w="1154050">
                  <a:extLst>
                    <a:ext uri="{9D8B030D-6E8A-4147-A177-3AD203B41FA5}">
                      <a16:colId xmlns:a16="http://schemas.microsoft.com/office/drawing/2014/main" val="20002"/>
                    </a:ext>
                  </a:extLst>
                </a:gridCol>
                <a:gridCol w="1002500">
                  <a:extLst>
                    <a:ext uri="{9D8B030D-6E8A-4147-A177-3AD203B41FA5}">
                      <a16:colId xmlns:a16="http://schemas.microsoft.com/office/drawing/2014/main" val="20003"/>
                    </a:ext>
                  </a:extLst>
                </a:gridCol>
                <a:gridCol w="2459625">
                  <a:extLst>
                    <a:ext uri="{9D8B030D-6E8A-4147-A177-3AD203B41FA5}">
                      <a16:colId xmlns:a16="http://schemas.microsoft.com/office/drawing/2014/main" val="20004"/>
                    </a:ext>
                  </a:extLst>
                </a:gridCol>
                <a:gridCol w="2308075">
                  <a:extLst>
                    <a:ext uri="{9D8B030D-6E8A-4147-A177-3AD203B41FA5}">
                      <a16:colId xmlns:a16="http://schemas.microsoft.com/office/drawing/2014/main" val="20005"/>
                    </a:ext>
                  </a:extLst>
                </a:gridCol>
              </a:tblGrid>
              <a:tr h="2018625">
                <a:tc rowSpan="2">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PROBLEM</a:t>
                      </a:r>
                      <a:endParaRPr sz="1400" u="none" strike="noStrike" cap="none"/>
                    </a:p>
                    <a:p>
                      <a:pPr marL="0" marR="0" lvl="0" indent="0" algn="l" rtl="0">
                        <a:lnSpc>
                          <a:spcPct val="100000"/>
                        </a:lnSpc>
                        <a:spcBef>
                          <a:spcPts val="500"/>
                        </a:spcBef>
                        <a:spcAft>
                          <a:spcPts val="0"/>
                        </a:spcAft>
                        <a:buClr>
                          <a:srgbClr val="182933"/>
                        </a:buClr>
                        <a:buSzPts val="1000"/>
                        <a:buFont typeface="Arial"/>
                        <a:buNone/>
                      </a:pPr>
                      <a:r>
                        <a:rPr lang="en-GB" sz="1000">
                          <a:solidFill>
                            <a:srgbClr val="182933"/>
                          </a:solidFill>
                          <a:latin typeface="Outfit"/>
                          <a:ea typeface="Outfit"/>
                          <a:cs typeface="Outfit"/>
                          <a:sym typeface="Outfit"/>
                        </a:rPr>
                        <a:t>{{lbp_problems}}</a:t>
                      </a:r>
                      <a:endParaRPr sz="1400" u="none" strike="noStrike" cap="none"/>
                    </a:p>
                    <a:p>
                      <a:pPr marL="171450" marR="0" lvl="0" indent="-107950" algn="l" rtl="0">
                        <a:lnSpc>
                          <a:spcPct val="100000"/>
                        </a:lnSpc>
                        <a:spcBef>
                          <a:spcPts val="500"/>
                        </a:spcBef>
                        <a:spcAft>
                          <a:spcPts val="0"/>
                        </a:spcAft>
                        <a:buClr>
                          <a:schemeClr val="dk1"/>
                        </a:buClr>
                        <a:buSzPts val="1000"/>
                        <a:buFont typeface="Arial"/>
                        <a:buNone/>
                      </a:pPr>
                      <a:endParaRPr sz="1000" u="none" strike="noStrike" cap="none">
                        <a:solidFill>
                          <a:srgbClr val="182933"/>
                        </a:solidFill>
                        <a:latin typeface="Outfit"/>
                        <a:ea typeface="Outfit"/>
                        <a:cs typeface="Outfit"/>
                        <a:sym typeface="Outfit"/>
                      </a:endParaRPr>
                    </a:p>
                    <a:p>
                      <a:pPr marL="0" marR="0" lvl="0" indent="0" algn="l" rtl="0">
                        <a:lnSpc>
                          <a:spcPct val="100000"/>
                        </a:lnSpc>
                        <a:spcBef>
                          <a:spcPts val="500"/>
                        </a:spcBef>
                        <a:spcAft>
                          <a:spcPts val="0"/>
                        </a:spcAft>
                        <a:buClr>
                          <a:srgbClr val="182933"/>
                        </a:buClr>
                        <a:buSzPts val="1000"/>
                        <a:buFont typeface="Arial"/>
                        <a:buNone/>
                      </a:pPr>
                      <a:r>
                        <a:rPr lang="en-GB" sz="1000" b="1" u="none" strike="noStrike" cap="none">
                          <a:solidFill>
                            <a:srgbClr val="182933"/>
                          </a:solidFill>
                          <a:latin typeface="Outfit"/>
                          <a:ea typeface="Outfit"/>
                          <a:cs typeface="Outfit"/>
                          <a:sym typeface="Outfit"/>
                        </a:rPr>
                        <a:t>Existing solutions</a:t>
                      </a:r>
                      <a:endParaRPr sz="1400" u="none" strike="noStrike" cap="none"/>
                    </a:p>
                    <a:p>
                      <a:pPr marL="0" marR="0" lvl="0" indent="0" algn="l" rtl="0">
                        <a:lnSpc>
                          <a:spcPct val="100000"/>
                        </a:lnSpc>
                        <a:spcBef>
                          <a:spcPts val="500"/>
                        </a:spcBef>
                        <a:spcAft>
                          <a:spcPts val="0"/>
                        </a:spcAft>
                        <a:buClr>
                          <a:srgbClr val="182933"/>
                        </a:buClr>
                        <a:buSzPts val="1000"/>
                        <a:buFont typeface="Arial"/>
                        <a:buNone/>
                      </a:pPr>
                      <a:r>
                        <a:rPr lang="en-GB" sz="1000">
                          <a:solidFill>
                            <a:srgbClr val="182933"/>
                          </a:solidFill>
                          <a:latin typeface="Outfit"/>
                          <a:ea typeface="Outfit"/>
                          <a:cs typeface="Outfit"/>
                          <a:sym typeface="Outfit"/>
                        </a:rPr>
                        <a:t>{{lbp_exst_sol}}</a:t>
                      </a:r>
                      <a:endParaRPr sz="1400" u="none" strike="noStrike" cap="none"/>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lnB w="57150" cap="flat" cmpd="sng">
                      <a:solidFill>
                        <a:srgbClr val="F2F2F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SOLUTION</a:t>
                      </a:r>
                      <a:endParaRPr sz="1400" u="none" strike="noStrike" cap="none"/>
                    </a:p>
                    <a:p>
                      <a:pPr marL="0" marR="0" lvl="0" indent="0" algn="l" rtl="0">
                        <a:lnSpc>
                          <a:spcPct val="100000"/>
                        </a:lnSpc>
                        <a:spcBef>
                          <a:spcPts val="500"/>
                        </a:spcBef>
                        <a:spcAft>
                          <a:spcPts val="0"/>
                        </a:spcAft>
                        <a:buClr>
                          <a:srgbClr val="182933"/>
                        </a:buClr>
                        <a:buSzPts val="1000"/>
                        <a:buFont typeface="Arial"/>
                        <a:buNone/>
                      </a:pPr>
                      <a:r>
                        <a:rPr lang="en-GB" sz="1000">
                          <a:solidFill>
                            <a:srgbClr val="182933"/>
                          </a:solidFill>
                          <a:latin typeface="Outfit"/>
                          <a:ea typeface="Outfit"/>
                          <a:cs typeface="Outfit"/>
                          <a:sym typeface="Outfit"/>
                        </a:rPr>
                        <a:t>{{lbp_sol}}</a:t>
                      </a:r>
                      <a:endParaRPr sz="1400" u="none" strike="noStrike" cap="none"/>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lnB w="57150" cap="flat" cmpd="sng">
                      <a:solidFill>
                        <a:srgbClr val="F2F2F2"/>
                      </a:solidFill>
                      <a:prstDash val="solid"/>
                      <a:round/>
                      <a:headEnd type="none" w="sm" len="sm"/>
                      <a:tailEnd type="none" w="sm" len="sm"/>
                    </a:lnB>
                    <a:solidFill>
                      <a:schemeClr val="lt1"/>
                    </a:solidFill>
                  </a:tcPr>
                </a:tc>
                <a:tc rowSpan="2" gridSpan="2">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UNIQUE VALUE PROPOSITION</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a:solidFill>
                            <a:srgbClr val="182933"/>
                          </a:solidFill>
                          <a:latin typeface="Outfit"/>
                          <a:ea typeface="Outfit"/>
                          <a:cs typeface="Outfit"/>
                          <a:sym typeface="Outfit"/>
                        </a:rPr>
                        <a:t>{{lbp_uvp}}</a:t>
                      </a:r>
                      <a:endParaRPr sz="1400" u="none" strike="noStrike" cap="none"/>
                    </a:p>
                    <a:p>
                      <a:pPr marL="0" marR="0" lvl="0" indent="0" algn="l" rtl="0">
                        <a:lnSpc>
                          <a:spcPct val="100000"/>
                        </a:lnSpc>
                        <a:spcBef>
                          <a:spcPts val="500"/>
                        </a:spcBef>
                        <a:spcAft>
                          <a:spcPts val="0"/>
                        </a:spcAft>
                        <a:buClr>
                          <a:srgbClr val="000000"/>
                        </a:buClr>
                        <a:buSzPts val="1000"/>
                        <a:buFont typeface="Arial"/>
                        <a:buNone/>
                      </a:pPr>
                      <a:endParaRPr sz="1000" b="1" u="none" strike="noStrike" cap="none">
                        <a:solidFill>
                          <a:srgbClr val="0E9594"/>
                        </a:solidFill>
                        <a:latin typeface="Outfit"/>
                        <a:ea typeface="Outfit"/>
                        <a:cs typeface="Outfit"/>
                        <a:sym typeface="Outfit"/>
                      </a:endParaRPr>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HIGH-LEVEL CONCEPT</a:t>
                      </a:r>
                      <a:endParaRPr sz="1400" u="none" strike="noStrike" cap="none"/>
                    </a:p>
                    <a:p>
                      <a:pPr marL="0" marR="0" lvl="0" indent="0" algn="l" rtl="0">
                        <a:lnSpc>
                          <a:spcPct val="107000"/>
                        </a:lnSpc>
                        <a:spcBef>
                          <a:spcPts val="500"/>
                        </a:spcBef>
                        <a:spcAft>
                          <a:spcPts val="0"/>
                        </a:spcAft>
                        <a:buClr>
                          <a:srgbClr val="000000"/>
                        </a:buClr>
                        <a:buSzPts val="1000"/>
                        <a:buFont typeface="Arial"/>
                        <a:buNone/>
                      </a:pPr>
                      <a:r>
                        <a:rPr lang="en-GB" sz="1000">
                          <a:solidFill>
                            <a:srgbClr val="182933"/>
                          </a:solidFill>
                          <a:latin typeface="Outfit"/>
                          <a:ea typeface="Outfit"/>
                          <a:cs typeface="Outfit"/>
                          <a:sym typeface="Outfit"/>
                        </a:rPr>
                        <a:t>{{lbp_hlc}}</a:t>
                      </a:r>
                      <a:endParaRPr sz="1400" u="none" strike="noStrike" cap="none"/>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lnB w="57150" cap="flat" cmpd="sng">
                      <a:solidFill>
                        <a:srgbClr val="F2F2F2"/>
                      </a:solidFill>
                      <a:prstDash val="solid"/>
                      <a:round/>
                      <a:headEnd type="none" w="sm" len="sm"/>
                      <a:tailEnd type="none" w="sm" len="sm"/>
                    </a:lnB>
                    <a:solidFill>
                      <a:schemeClr val="lt1"/>
                    </a:solidFill>
                  </a:tcPr>
                </a:tc>
                <a:tc rowSpan="2"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UNFAIR ADVANTAGE</a:t>
                      </a:r>
                      <a:endParaRPr sz="1000" u="none" strike="noStrike" cap="none">
                        <a:solidFill>
                          <a:srgbClr val="0E9594"/>
                        </a:solidFill>
                        <a:latin typeface="Outfit"/>
                        <a:ea typeface="Outfit"/>
                        <a:cs typeface="Outfit"/>
                        <a:sym typeface="Outfit"/>
                      </a:endParaRPr>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solidFill>
                            <a:srgbClr val="182933"/>
                          </a:solidFill>
                          <a:latin typeface="Outfit"/>
                          <a:ea typeface="Outfit"/>
                          <a:cs typeface="Outfit"/>
                          <a:sym typeface="Outfit"/>
                        </a:rPr>
                        <a:t>Intellectual Property </a:t>
                      </a:r>
                      <a:r>
                        <a:rPr lang="en-GB" sz="1000" u="none" strike="noStrike" cap="none">
                          <a:solidFill>
                            <a:srgbClr val="182933"/>
                          </a:solidFill>
                          <a:latin typeface="Outfit"/>
                          <a:ea typeface="Outfit"/>
                          <a:cs typeface="Outfit"/>
                          <a:sym typeface="Outfit"/>
                        </a:rPr>
                        <a:t>– Seeking legal protection.</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solidFill>
                            <a:srgbClr val="182933"/>
                          </a:solidFill>
                          <a:latin typeface="Outfit"/>
                          <a:ea typeface="Outfit"/>
                          <a:cs typeface="Outfit"/>
                          <a:sym typeface="Outfit"/>
                        </a:rPr>
                        <a:t>Customer Connection </a:t>
                      </a:r>
                      <a:r>
                        <a:rPr lang="en-GB" sz="1000" u="none" strike="noStrike" cap="none">
                          <a:solidFill>
                            <a:srgbClr val="182933"/>
                          </a:solidFill>
                          <a:latin typeface="Outfit"/>
                          <a:ea typeface="Outfit"/>
                          <a:cs typeface="Outfit"/>
                          <a:sym typeface="Outfit"/>
                        </a:rPr>
                        <a:t>– Fostering personal engagement with customers.</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solidFill>
                            <a:srgbClr val="182933"/>
                          </a:solidFill>
                          <a:latin typeface="Outfit"/>
                          <a:ea typeface="Outfit"/>
                          <a:cs typeface="Outfit"/>
                          <a:sym typeface="Outfit"/>
                        </a:rPr>
                        <a:t>First-mover advantage </a:t>
                      </a:r>
                      <a:r>
                        <a:rPr lang="en-GB" sz="1000" u="none" strike="noStrike" cap="none">
                          <a:solidFill>
                            <a:srgbClr val="182933"/>
                          </a:solidFill>
                          <a:latin typeface="Outfit"/>
                          <a:ea typeface="Outfit"/>
                          <a:cs typeface="Outfit"/>
                          <a:sym typeface="Outfit"/>
                        </a:rPr>
                        <a:t>- Being the first to offer a dedicated solution.</a:t>
                      </a:r>
                      <a:endParaRPr sz="1400" u="none" strike="noStrike" cap="none"/>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lnB w="57150" cap="flat" cmpd="sng">
                      <a:solidFill>
                        <a:srgbClr val="F2F2F2"/>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CUSTOMER SEGMENTS</a:t>
                      </a:r>
                      <a:endParaRPr sz="1000" u="none" strike="noStrike" cap="none">
                        <a:solidFill>
                          <a:srgbClr val="0E9594"/>
                        </a:solidFill>
                        <a:latin typeface="Outfit"/>
                        <a:ea typeface="Outfit"/>
                        <a:cs typeface="Outfit"/>
                        <a:sym typeface="Outfit"/>
                      </a:endParaRPr>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latin typeface="Outfit"/>
                          <a:ea typeface="Outfit"/>
                          <a:cs typeface="Outfit"/>
                          <a:sym typeface="Outfit"/>
                        </a:rPr>
                        <a:t>Target Customers</a:t>
                      </a:r>
                      <a:endParaRPr sz="1400" u="none" strike="noStrike" cap="none"/>
                    </a:p>
                    <a:p>
                      <a:pPr marL="0" marR="0" lvl="0" indent="0" algn="l" rtl="0">
                        <a:lnSpc>
                          <a:spcPct val="100000"/>
                        </a:lnSpc>
                        <a:spcBef>
                          <a:spcPts val="500"/>
                        </a:spcBef>
                        <a:spcAft>
                          <a:spcPts val="0"/>
                        </a:spcAft>
                        <a:buClr>
                          <a:srgbClr val="182933"/>
                        </a:buClr>
                        <a:buSzPts val="1000"/>
                        <a:buFont typeface="Arial"/>
                        <a:buNone/>
                      </a:pPr>
                      <a:r>
                        <a:rPr lang="en-GB" sz="1000">
                          <a:solidFill>
                            <a:srgbClr val="182933"/>
                          </a:solidFill>
                          <a:latin typeface="Outfit"/>
                          <a:ea typeface="Outfit"/>
                          <a:cs typeface="Outfit"/>
                          <a:sym typeface="Outfit"/>
                        </a:rPr>
                        <a:t>{{lbp_cust}}</a:t>
                      </a:r>
                      <a:endParaRPr sz="1400" u="none" strike="noStrike" cap="none"/>
                    </a:p>
                    <a:p>
                      <a:pPr marL="171450" marR="0" lvl="0" indent="-107950" algn="l" rtl="0">
                        <a:lnSpc>
                          <a:spcPct val="100000"/>
                        </a:lnSpc>
                        <a:spcBef>
                          <a:spcPts val="500"/>
                        </a:spcBef>
                        <a:spcAft>
                          <a:spcPts val="0"/>
                        </a:spcAft>
                        <a:buClr>
                          <a:schemeClr val="dk1"/>
                        </a:buClr>
                        <a:buSzPts val="1000"/>
                        <a:buFont typeface="Arial"/>
                        <a:buNone/>
                      </a:pPr>
                      <a:endParaRPr sz="1000" u="none" strike="noStrike" cap="none">
                        <a:solidFill>
                          <a:srgbClr val="182933"/>
                        </a:solidFill>
                        <a:latin typeface="Outfit"/>
                        <a:ea typeface="Outfit"/>
                        <a:cs typeface="Outfit"/>
                        <a:sym typeface="Outfit"/>
                      </a:endParaRPr>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solidFill>
                            <a:srgbClr val="182933"/>
                          </a:solidFill>
                          <a:latin typeface="Outfit"/>
                          <a:ea typeface="Outfit"/>
                          <a:cs typeface="Outfit"/>
                          <a:sym typeface="Outfit"/>
                        </a:rPr>
                        <a:t>Early adopters</a:t>
                      </a:r>
                      <a:endParaRPr sz="1400" u="none" strike="noStrike" cap="none"/>
                    </a:p>
                    <a:p>
                      <a:pPr marL="0" marR="0" lvl="0" indent="0" algn="l" rtl="0">
                        <a:lnSpc>
                          <a:spcPct val="100000"/>
                        </a:lnSpc>
                        <a:spcBef>
                          <a:spcPts val="500"/>
                        </a:spcBef>
                        <a:spcAft>
                          <a:spcPts val="0"/>
                        </a:spcAft>
                        <a:buClr>
                          <a:srgbClr val="182933"/>
                        </a:buClr>
                        <a:buSzPts val="1000"/>
                        <a:buFont typeface="Arial"/>
                        <a:buNone/>
                      </a:pPr>
                      <a:r>
                        <a:rPr lang="en-GB" sz="1000">
                          <a:solidFill>
                            <a:srgbClr val="182933"/>
                          </a:solidFill>
                          <a:latin typeface="Outfit"/>
                          <a:ea typeface="Outfit"/>
                          <a:cs typeface="Outfit"/>
                          <a:sym typeface="Outfit"/>
                        </a:rPr>
                        <a:t>{{lbp_ea}}</a:t>
                      </a:r>
                      <a:endParaRPr sz="1000" u="none" strike="noStrike" cap="none">
                        <a:solidFill>
                          <a:srgbClr val="182933"/>
                        </a:solidFill>
                        <a:latin typeface="Outfit"/>
                        <a:ea typeface="Outfit"/>
                        <a:cs typeface="Outfit"/>
                        <a:sym typeface="Outfit"/>
                      </a:endParaRPr>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solidFill>
                      <a:schemeClr val="lt1"/>
                    </a:solidFill>
                  </a:tcPr>
                </a:tc>
                <a:extLst>
                  <a:ext uri="{0D108BD9-81ED-4DB2-BD59-A6C34878D82A}">
                    <a16:rowId xmlns:a16="http://schemas.microsoft.com/office/drawing/2014/main" val="10000"/>
                  </a:ext>
                </a:extLst>
              </a:tr>
              <a:tr h="21698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KEY METRICS</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a:solidFill>
                            <a:srgbClr val="182933"/>
                          </a:solidFill>
                          <a:latin typeface="Outfit"/>
                          <a:ea typeface="Outfit"/>
                          <a:cs typeface="Outfit"/>
                          <a:sym typeface="Outfit"/>
                        </a:rPr>
                        <a:t>{{lbp_keymet}}</a:t>
                      </a:r>
                      <a:endParaRPr sz="1400" u="none" strike="noStrike" cap="none"/>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lnB w="57150" cap="flat" cmpd="sng">
                      <a:solidFill>
                        <a:srgbClr val="F2F2F2"/>
                      </a:solidFill>
                      <a:prstDash val="solid"/>
                      <a:round/>
                      <a:headEnd type="none" w="sm" len="sm"/>
                      <a:tailEnd type="none" w="sm" len="sm"/>
                    </a:lnB>
                    <a:solidFill>
                      <a:schemeClr val="lt1"/>
                    </a:solidFill>
                  </a:tcPr>
                </a:tc>
                <a:tc gridSpan="2" vMerge="1">
                  <a:txBody>
                    <a:bodyPr/>
                    <a:lstStyle/>
                    <a:p>
                      <a:endParaRPr lang="en-US"/>
                    </a:p>
                  </a:txBody>
                  <a:tcPr/>
                </a:tc>
                <a:tc hMerge="1"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CHANNELS</a:t>
                      </a:r>
                      <a:endParaRPr sz="1000" u="none" strike="noStrike" cap="none">
                        <a:solidFill>
                          <a:srgbClr val="0E9594"/>
                        </a:solidFill>
                        <a:latin typeface="Outfit"/>
                        <a:ea typeface="Outfit"/>
                        <a:cs typeface="Outfit"/>
                        <a:sym typeface="Outfit"/>
                      </a:endParaRPr>
                    </a:p>
                    <a:p>
                      <a:pPr marL="0" marR="0" lvl="0" indent="0" algn="l" rtl="0">
                        <a:lnSpc>
                          <a:spcPct val="100000"/>
                        </a:lnSpc>
                        <a:spcBef>
                          <a:spcPts val="500"/>
                        </a:spcBef>
                        <a:spcAft>
                          <a:spcPts val="0"/>
                        </a:spcAft>
                        <a:buClr>
                          <a:srgbClr val="182933"/>
                        </a:buClr>
                        <a:buSzPts val="1000"/>
                        <a:buFont typeface="Arial"/>
                        <a:buNone/>
                      </a:pPr>
                      <a:r>
                        <a:rPr lang="en-GB" sz="1000">
                          <a:solidFill>
                            <a:srgbClr val="182933"/>
                          </a:solidFill>
                          <a:latin typeface="Outfit"/>
                          <a:ea typeface="Outfit"/>
                          <a:cs typeface="Outfit"/>
                          <a:sym typeface="Outfit"/>
                        </a:rPr>
                        <a:t>{{lbp_chan}}</a:t>
                      </a:r>
                      <a:endParaRPr sz="1000" u="none" strike="noStrike" cap="none">
                        <a:solidFill>
                          <a:srgbClr val="182933"/>
                        </a:solidFill>
                        <a:latin typeface="Outfit"/>
                        <a:ea typeface="Outfit"/>
                        <a:cs typeface="Outfit"/>
                        <a:sym typeface="Outfit"/>
                      </a:endParaRPr>
                    </a:p>
                  </a:txBody>
                  <a:tcPr marL="144000" marR="144000" marT="143950" marB="143950">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solidFill>
                      <a:schemeClr val="lt1"/>
                    </a:solidFill>
                  </a:tcPr>
                </a:tc>
                <a:tc vMerge="1">
                  <a:txBody>
                    <a:bodyPr/>
                    <a:lstStyle/>
                    <a:p>
                      <a:endParaRPr lang="en-US"/>
                    </a:p>
                  </a:txBody>
                  <a:tcPr/>
                </a:tc>
                <a:extLst>
                  <a:ext uri="{0D108BD9-81ED-4DB2-BD59-A6C34878D82A}">
                    <a16:rowId xmlns:a16="http://schemas.microsoft.com/office/drawing/2014/main" val="10001"/>
                  </a:ext>
                </a:extLst>
              </a:tr>
              <a:tr h="1407500">
                <a:tc gridSpan="3">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COST STRUCTURE</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a:latin typeface="Outfit"/>
                          <a:ea typeface="Outfit"/>
                          <a:cs typeface="Outfit"/>
                          <a:sym typeface="Outfit"/>
                        </a:rPr>
                        <a:t>{{lbp_cost_struc}}</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b="1" u="none" strike="noStrike" cap="none">
                          <a:latin typeface="Outfit"/>
                          <a:ea typeface="Outfit"/>
                          <a:cs typeface="Outfit"/>
                          <a:sym typeface="Outfit"/>
                        </a:rPr>
                        <a:t>Target retail price:</a:t>
                      </a:r>
                      <a:r>
                        <a:rPr lang="en-GB" sz="1000" u="none" strike="noStrike" cap="none">
                          <a:latin typeface="Outfit"/>
                          <a:ea typeface="Outfit"/>
                          <a:cs typeface="Outfit"/>
                          <a:sym typeface="Outfit"/>
                        </a:rPr>
                        <a:t> </a:t>
                      </a:r>
                      <a:r>
                        <a:rPr lang="en-GB" sz="1000">
                          <a:latin typeface="Outfit"/>
                          <a:ea typeface="Outfit"/>
                          <a:cs typeface="Outfit"/>
                          <a:sym typeface="Outfit"/>
                        </a:rPr>
                        <a:t>{{lbp_rrp}}</a:t>
                      </a:r>
                      <a:endParaRPr sz="1000" b="1" u="none" strike="noStrike" cap="none">
                        <a:solidFill>
                          <a:srgbClr val="182933"/>
                        </a:solidFill>
                        <a:latin typeface="Outfit"/>
                        <a:ea typeface="Outfit"/>
                        <a:cs typeface="Outfit"/>
                        <a:sym typeface="Outfit"/>
                      </a:endParaRPr>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T w="57150" cap="flat" cmpd="sng">
                      <a:solidFill>
                        <a:srgbClr val="F2F2F2"/>
                      </a:solidFill>
                      <a:prstDash val="solid"/>
                      <a:round/>
                      <a:headEnd type="none" w="sm" len="sm"/>
                      <a:tailEnd type="none" w="sm" len="sm"/>
                    </a:lnT>
                    <a:lnB w="57150" cap="flat" cmpd="sng">
                      <a:solidFill>
                        <a:srgbClr val="F2F2F2"/>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tc gridSpan="3">
                  <a:txBody>
                    <a:bodyPr/>
                    <a:lstStyle/>
                    <a:p>
                      <a:pPr marL="0" marR="0" lvl="0" indent="0" algn="l" rtl="0">
                        <a:lnSpc>
                          <a:spcPct val="100000"/>
                        </a:lnSpc>
                        <a:spcBef>
                          <a:spcPts val="0"/>
                        </a:spcBef>
                        <a:spcAft>
                          <a:spcPts val="0"/>
                        </a:spcAft>
                        <a:buClr>
                          <a:srgbClr val="000000"/>
                        </a:buClr>
                        <a:buSzPts val="1000"/>
                        <a:buFont typeface="Arial"/>
                        <a:buNone/>
                      </a:pPr>
                      <a:r>
                        <a:rPr lang="en-GB" sz="1000" b="1" u="none" strike="noStrike" cap="none">
                          <a:solidFill>
                            <a:srgbClr val="0E9594"/>
                          </a:solidFill>
                          <a:latin typeface="Outfit"/>
                          <a:ea typeface="Outfit"/>
                          <a:cs typeface="Outfit"/>
                          <a:sym typeface="Outfit"/>
                        </a:rPr>
                        <a:t>REVENUE STREAMS</a:t>
                      </a:r>
                      <a:endParaRPr sz="1400" u="none" strike="noStrike" cap="none"/>
                    </a:p>
                    <a:p>
                      <a:pPr marL="0" marR="0" lvl="0" indent="0" algn="l" rtl="0">
                        <a:lnSpc>
                          <a:spcPct val="100000"/>
                        </a:lnSpc>
                        <a:spcBef>
                          <a:spcPts val="500"/>
                        </a:spcBef>
                        <a:spcAft>
                          <a:spcPts val="0"/>
                        </a:spcAft>
                        <a:buClr>
                          <a:srgbClr val="000000"/>
                        </a:buClr>
                        <a:buSzPts val="1000"/>
                        <a:buFont typeface="Arial"/>
                        <a:buNone/>
                      </a:pPr>
                      <a:r>
                        <a:rPr lang="en-GB" sz="1000">
                          <a:latin typeface="Outfit"/>
                          <a:ea typeface="Outfit"/>
                          <a:cs typeface="Outfit"/>
                          <a:sym typeface="Outfit"/>
                        </a:rPr>
                        <a:t>{{lbp_rev_stream}}</a:t>
                      </a:r>
                      <a:endParaRPr/>
                    </a:p>
                    <a:p>
                      <a:pPr marL="0" marR="0" lvl="0" indent="0" algn="l" rtl="0">
                        <a:lnSpc>
                          <a:spcPct val="100000"/>
                        </a:lnSpc>
                        <a:spcBef>
                          <a:spcPts val="500"/>
                        </a:spcBef>
                        <a:spcAft>
                          <a:spcPts val="0"/>
                        </a:spcAft>
                        <a:buClr>
                          <a:srgbClr val="000000"/>
                        </a:buClr>
                        <a:buSzPts val="1000"/>
                        <a:buFont typeface="Arial"/>
                        <a:buNone/>
                      </a:pPr>
                      <a:r>
                        <a:rPr lang="en-GB" sz="1000" u="none" strike="noStrike" cap="none">
                          <a:latin typeface="Outfit"/>
                          <a:ea typeface="Outfit"/>
                          <a:cs typeface="Outfit"/>
                          <a:sym typeface="Outfit"/>
                        </a:rPr>
                        <a:t>Preferred route: </a:t>
                      </a:r>
                      <a:r>
                        <a:rPr lang="en-GB" sz="1000">
                          <a:latin typeface="Outfit"/>
                          <a:ea typeface="Outfit"/>
                          <a:cs typeface="Outfit"/>
                          <a:sym typeface="Outfit"/>
                        </a:rPr>
                        <a:t>{{lbp_pref_route}}</a:t>
                      </a:r>
                      <a:endParaRPr sz="1400" u="none" strike="noStrike" cap="none"/>
                    </a:p>
                  </a:txBody>
                  <a:tcPr marL="144000" marR="144000" marT="143950" marB="143950">
                    <a:lnL w="57150" cap="flat" cmpd="sng">
                      <a:solidFill>
                        <a:srgbClr val="F2F2F2"/>
                      </a:solidFill>
                      <a:prstDash val="solid"/>
                      <a:round/>
                      <a:headEnd type="none" w="sm" len="sm"/>
                      <a:tailEnd type="none" w="sm" len="sm"/>
                    </a:lnL>
                    <a:lnR w="57150" cap="flat" cmpd="sng">
                      <a:solidFill>
                        <a:srgbClr val="F2F2F2"/>
                      </a:solidFill>
                      <a:prstDash val="solid"/>
                      <a:round/>
                      <a:headEnd type="none" w="sm" len="sm"/>
                      <a:tailEnd type="none" w="sm" len="sm"/>
                    </a:lnR>
                    <a:lnB w="57150" cap="flat" cmpd="sng">
                      <a:solidFill>
                        <a:srgbClr val="F2F2F2"/>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381" name="Google Shape;381;p23"/>
          <p:cNvSpPr/>
          <p:nvPr/>
        </p:nvSpPr>
        <p:spPr>
          <a:xfrm>
            <a:off x="7081230" y="1811501"/>
            <a:ext cx="52712" cy="341148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82" name="Google Shape;382;p23"/>
          <p:cNvSpPr txBox="1">
            <a:spLocks noGrp="1"/>
          </p:cNvSpPr>
          <p:nvPr>
            <p:ph type="sldNum" idx="12"/>
          </p:nvPr>
        </p:nvSpPr>
        <p:spPr>
          <a:xfrm>
            <a:off x="8619931" y="6372805"/>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Outfit"/>
              <a:buNone/>
            </a:pPr>
            <a:fld id="{00000000-1234-1234-1234-123412341234}" type="slidenum">
              <a:rPr lang="en-GB" sz="1200" b="0" i="0" u="none" strike="noStrike" cap="none">
                <a:solidFill>
                  <a:srgbClr val="888888"/>
                </a:solidFill>
                <a:latin typeface="Outfit"/>
                <a:ea typeface="Outfit"/>
                <a:cs typeface="Outfit"/>
                <a:sym typeface="Outfit"/>
              </a:rPr>
              <a:t>23</a:t>
            </a:fld>
            <a:endParaRPr sz="1200" b="0" i="0" u="none" strike="noStrike" cap="none">
              <a:solidFill>
                <a:srgbClr val="888888"/>
              </a:solidFill>
              <a:latin typeface="Outfit"/>
              <a:ea typeface="Outfit"/>
              <a:cs typeface="Outfit"/>
              <a:sym typeface="Outfit"/>
            </a:endParaRPr>
          </a:p>
        </p:txBody>
      </p:sp>
      <p:sp>
        <p:nvSpPr>
          <p:cNvPr id="383" name="Google Shape;383;p23"/>
          <p:cNvSpPr txBox="1"/>
          <p:nvPr/>
        </p:nvSpPr>
        <p:spPr>
          <a:xfrm>
            <a:off x="4762500" y="102577"/>
            <a:ext cx="7261860" cy="33855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A4A4A8"/>
              </a:buClr>
              <a:buSzPts val="800"/>
              <a:buFont typeface="Outfit"/>
              <a:buNone/>
            </a:pPr>
            <a:r>
              <a:rPr lang="en-GB" sz="800" b="0" i="0" u="none" strike="noStrike" cap="none">
                <a:solidFill>
                  <a:srgbClr val="A4A4A8"/>
                </a:solidFill>
                <a:latin typeface="Outfit"/>
                <a:ea typeface="Outfit"/>
                <a:cs typeface="Outfit"/>
                <a:sym typeface="Outfit"/>
              </a:rPr>
              <a:t>This Lean Business Plan is adapted by Innovate Product Design Ltd from the Lean Canvas. Lean Canvas was created by Ash Maurya and is adapted from the Business Model Canvas. It is licensed under the Creative Commons Attribution Share Alike 3.0 Un-ported License. </a:t>
            </a:r>
            <a:endParaRPr sz="1400" b="0" i="0" u="none" strike="noStrike" cap="none">
              <a:solidFill>
                <a:srgbClr val="000000"/>
              </a:solidFill>
              <a:latin typeface="Arial"/>
              <a:ea typeface="Arial"/>
              <a:cs typeface="Arial"/>
              <a:sym typeface="Arial"/>
            </a:endParaRPr>
          </a:p>
        </p:txBody>
      </p:sp>
      <p:sp>
        <p:nvSpPr>
          <p:cNvPr id="384" name="Google Shape;384;p23"/>
          <p:cNvSpPr/>
          <p:nvPr/>
        </p:nvSpPr>
        <p:spPr>
          <a:xfrm>
            <a:off x="6107563" y="5199508"/>
            <a:ext cx="1028830" cy="5608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88"/>
        <p:cNvGrpSpPr/>
        <p:nvPr/>
      </p:nvGrpSpPr>
      <p:grpSpPr>
        <a:xfrm>
          <a:off x="0" y="0"/>
          <a:ext cx="0" cy="0"/>
          <a:chOff x="0" y="0"/>
          <a:chExt cx="0" cy="0"/>
        </a:xfrm>
      </p:grpSpPr>
      <p:sp>
        <p:nvSpPr>
          <p:cNvPr id="389" name="Google Shape;389;p24"/>
          <p:cNvSpPr/>
          <p:nvPr/>
        </p:nvSpPr>
        <p:spPr>
          <a:xfrm>
            <a:off x="0" y="3445"/>
            <a:ext cx="12192000" cy="6854555"/>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390" name="Google Shape;39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24</a:t>
            </a:fld>
            <a:endParaRPr/>
          </a:p>
        </p:txBody>
      </p:sp>
      <p:sp>
        <p:nvSpPr>
          <p:cNvPr id="391" name="Google Shape;391;p24"/>
          <p:cNvSpPr txBox="1"/>
          <p:nvPr/>
        </p:nvSpPr>
        <p:spPr>
          <a:xfrm>
            <a:off x="3197628" y="2998113"/>
            <a:ext cx="5796744"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GB" sz="5000" b="1" i="0" u="none" strike="noStrike" cap="none">
                <a:solidFill>
                  <a:schemeClr val="lt1"/>
                </a:solidFill>
                <a:latin typeface="Outfit"/>
                <a:ea typeface="Outfit"/>
                <a:cs typeface="Outfit"/>
                <a:sym typeface="Outfit"/>
              </a:rPr>
              <a:t>Appendix</a:t>
            </a:r>
            <a:endParaRPr sz="5000" b="1" i="0" u="none" strike="noStrike" cap="none">
              <a:solidFill>
                <a:schemeClr val="lt1"/>
              </a:solidFill>
              <a:latin typeface="Outfit"/>
              <a:ea typeface="Outfit"/>
              <a:cs typeface="Outfit"/>
              <a:sym typeface="Outfi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95"/>
        <p:cNvGrpSpPr/>
        <p:nvPr/>
      </p:nvGrpSpPr>
      <p:grpSpPr>
        <a:xfrm>
          <a:off x="0" y="0"/>
          <a:ext cx="0" cy="0"/>
          <a:chOff x="0" y="0"/>
          <a:chExt cx="0" cy="0"/>
        </a:xfrm>
      </p:grpSpPr>
      <p:sp>
        <p:nvSpPr>
          <p:cNvPr id="396" name="Google Shape;396;p25"/>
          <p:cNvSpPr txBox="1"/>
          <p:nvPr/>
        </p:nvSpPr>
        <p:spPr>
          <a:xfrm>
            <a:off x="950100" y="1278476"/>
            <a:ext cx="9806608" cy="3368780"/>
          </a:xfrm>
          <a:prstGeom prst="rect">
            <a:avLst/>
          </a:prstGeom>
          <a:solidFill>
            <a:schemeClr val="lt1"/>
          </a:solidFill>
          <a:ln>
            <a:noFill/>
          </a:ln>
        </p:spPr>
        <p:txBody>
          <a:bodyPr spcFirstLastPara="1" wrap="square" lIns="360000" tIns="360000" rIns="360000" bIns="3600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This report is speculative and provides a very general overview of the potential of your product. For a product such as this, how the product is developed and marketed will hugely affect the outcome. Therefore, these numbers should not be relied on for any financial or other decisions.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This document is representative of the research team's considered opinion but is not the final or definitive answers to these questions or issues, which can be yours alone as 'expert in the field’. Therefore, you must consider all content as a launchpad but not tactical, legal or commercial advice.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Should a business based around this product be of interest to you, further development will be required to prepare the product for sale. This may incur significant additional costs which have not been estimated in this report.</a:t>
            </a:r>
            <a:endParaRPr sz="1400" b="0" i="0" u="none" strike="noStrike" cap="none">
              <a:solidFill>
                <a:srgbClr val="000000"/>
              </a:solidFill>
              <a:latin typeface="Arial"/>
              <a:ea typeface="Arial"/>
              <a:cs typeface="Arial"/>
              <a:sym typeface="Arial"/>
            </a:endParaRPr>
          </a:p>
        </p:txBody>
      </p:sp>
      <p:sp>
        <p:nvSpPr>
          <p:cNvPr id="397" name="Google Shape;39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25</a:t>
            </a:fld>
            <a:endParaRPr/>
          </a:p>
        </p:txBody>
      </p:sp>
      <p:sp>
        <p:nvSpPr>
          <p:cNvPr id="398" name="Google Shape;398;p25"/>
          <p:cNvSpPr txBox="1"/>
          <p:nvPr/>
        </p:nvSpPr>
        <p:spPr>
          <a:xfrm>
            <a:off x="720000" y="558416"/>
            <a:ext cx="3339195" cy="323165"/>
          </a:xfrm>
          <a:prstGeom prst="rect">
            <a:avLst/>
          </a:prstGeom>
          <a:solidFill>
            <a:srgbClr val="BFBFB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Product potential report context</a:t>
            </a:r>
            <a:endParaRPr sz="1500" b="1" i="0" u="none" strike="noStrike" cap="none">
              <a:solidFill>
                <a:schemeClr val="lt1"/>
              </a:solidFill>
              <a:latin typeface="Outfit"/>
              <a:ea typeface="Outfit"/>
              <a:cs typeface="Outfit"/>
              <a:sym typeface="Outfi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02"/>
        <p:cNvGrpSpPr/>
        <p:nvPr/>
      </p:nvGrpSpPr>
      <p:grpSpPr>
        <a:xfrm>
          <a:off x="0" y="0"/>
          <a:ext cx="0" cy="0"/>
          <a:chOff x="0" y="0"/>
          <a:chExt cx="0" cy="0"/>
        </a:xfrm>
      </p:grpSpPr>
      <p:sp>
        <p:nvSpPr>
          <p:cNvPr id="403" name="Google Shape;403;p26"/>
          <p:cNvSpPr txBox="1"/>
          <p:nvPr/>
        </p:nvSpPr>
        <p:spPr>
          <a:xfrm>
            <a:off x="1192696" y="1783082"/>
            <a:ext cx="9806608" cy="3291836"/>
          </a:xfrm>
          <a:prstGeom prst="rect">
            <a:avLst/>
          </a:prstGeom>
          <a:solidFill>
            <a:schemeClr val="lt1"/>
          </a:solidFill>
          <a:ln>
            <a:noFill/>
          </a:ln>
        </p:spPr>
        <p:txBody>
          <a:bodyPr spcFirstLastPara="1" wrap="square" lIns="360000" tIns="360000" rIns="360000" bIns="360000" anchor="t" anchorCtr="0">
            <a:spAutoFit/>
          </a:bodyPr>
          <a:lstStyle/>
          <a:p>
            <a:pPr marL="0" marR="0" lvl="0" indent="0" algn="l" rtl="0">
              <a:lnSpc>
                <a:spcPct val="100000"/>
              </a:lnSpc>
              <a:spcBef>
                <a:spcPts val="0"/>
              </a:spcBef>
              <a:spcAft>
                <a:spcPts val="0"/>
              </a:spcAft>
              <a:buClr>
                <a:srgbClr val="000000"/>
              </a:buClr>
              <a:buSzPts val="1250"/>
              <a:buFont typeface="Arial"/>
              <a:buNone/>
            </a:pPr>
            <a:r>
              <a:rPr lang="en-GB" sz="1250" b="1" i="0" u="none" strike="noStrike" cap="none">
                <a:solidFill>
                  <a:srgbClr val="182933"/>
                </a:solidFill>
                <a:latin typeface="Outfit"/>
                <a:ea typeface="Outfit"/>
                <a:cs typeface="Outfit"/>
                <a:sym typeface="Outfit"/>
              </a:rPr>
              <a:t>The Product Potential Report format has been developed by the team at Innovate Design.  It includes methodologies and playbooks which have been developed by cutting-edge innovators in the industry. You can learn more about the concepts we have been inspired by in the books below.</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  Running Lean (3</a:t>
            </a:r>
            <a:r>
              <a:rPr lang="en-GB" sz="1500" b="1" i="0" u="none" strike="noStrike" cap="none" baseline="30000">
                <a:solidFill>
                  <a:srgbClr val="182933"/>
                </a:solidFill>
                <a:latin typeface="Outfit"/>
                <a:ea typeface="Outfit"/>
                <a:cs typeface="Outfit"/>
                <a:sym typeface="Outfit"/>
              </a:rPr>
              <a:t>rd</a:t>
            </a:r>
            <a:r>
              <a:rPr lang="en-GB" sz="1500" b="1" i="0" u="none" strike="noStrike" cap="none">
                <a:solidFill>
                  <a:srgbClr val="182933"/>
                </a:solidFill>
                <a:latin typeface="Outfit"/>
                <a:ea typeface="Outfit"/>
                <a:cs typeface="Outfit"/>
                <a:sym typeface="Outfit"/>
              </a:rPr>
              <a:t> Edition) by Ash Maurya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  Lean Startup by Eric Ries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  The Art of Innovation by Tom Kelley (Ideo)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  Business Model Generation by Alexander Osterwalder and Yves Pigneur (Strategyzer)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50"/>
              </a:spcBef>
              <a:spcAft>
                <a:spcPts val="0"/>
              </a:spcAft>
              <a:buClr>
                <a:srgbClr val="000000"/>
              </a:buClr>
              <a:buSzPts val="1500"/>
              <a:buFont typeface="Arial"/>
              <a:buNone/>
            </a:pPr>
            <a:r>
              <a:rPr lang="en-GB" sz="1500" b="1" i="0" u="none" strike="noStrike" cap="none">
                <a:solidFill>
                  <a:srgbClr val="182933"/>
                </a:solidFill>
                <a:latin typeface="Outfit"/>
                <a:ea typeface="Outfit"/>
                <a:cs typeface="Outfit"/>
                <a:sym typeface="Outfit"/>
              </a:rPr>
              <a:t>  Value Proposition Design by Alexander Osterwalder and the team at Strategyzer</a:t>
            </a:r>
            <a:endParaRPr sz="1500" b="1" i="0" u="none" strike="noStrike" cap="none">
              <a:solidFill>
                <a:srgbClr val="182933"/>
              </a:solidFill>
              <a:latin typeface="Outfit"/>
              <a:ea typeface="Outfit"/>
              <a:cs typeface="Outfit"/>
              <a:sym typeface="Outfit"/>
            </a:endParaRPr>
          </a:p>
        </p:txBody>
      </p:sp>
      <p:sp>
        <p:nvSpPr>
          <p:cNvPr id="404" name="Google Shape;40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26</a:t>
            </a:fld>
            <a:endParaRPr/>
          </a:p>
        </p:txBody>
      </p:sp>
      <p:sp>
        <p:nvSpPr>
          <p:cNvPr id="405" name="Google Shape;405;p26"/>
          <p:cNvSpPr txBox="1"/>
          <p:nvPr/>
        </p:nvSpPr>
        <p:spPr>
          <a:xfrm>
            <a:off x="720000" y="558416"/>
            <a:ext cx="3246520" cy="323165"/>
          </a:xfrm>
          <a:prstGeom prst="rect">
            <a:avLst/>
          </a:prstGeom>
          <a:solidFill>
            <a:srgbClr val="BFBFB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Outfit"/>
                <a:ea typeface="Outfit"/>
                <a:cs typeface="Outfit"/>
                <a:sym typeface="Outfit"/>
              </a:rPr>
              <a:t> References and further reading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2239</Words>
  <Application>Microsoft Office PowerPoint</Application>
  <PresentationFormat>Widescreen</PresentationFormat>
  <Paragraphs>301</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Montserrat</vt:lpstr>
      <vt:lpstr>Outfit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James McInerny</dc:creator>
  <cp:lastModifiedBy>Toby King</cp:lastModifiedBy>
  <cp:revision>1</cp:revision>
  <dcterms:created xsi:type="dcterms:W3CDTF">2022-03-29T09:40:13Z</dcterms:created>
  <dcterms:modified xsi:type="dcterms:W3CDTF">2025-12-29T07:28:02Z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0x0101003F06EF71130A0C4ABE3E84CB86A086F2</vt:lpwstr>
  </property>
</Properties>
</file>